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Số test case theo nhóm</a:t>
            </a:r>
          </a:p>
        </c:rich>
      </c:tx>
      <c:layout/>
      <c:overlay val="0"/>
    </c:title>
    <c:autoTitleDeleted val="0"/>
    <c:plotArea>
      <c:barChart>
        <c:barDir val="bar"/>
        <c:grouping val="clustered"/>
        <c:ser>
          <c:idx val="0"/>
          <c:order val="0"/>
          <c:tx>
            <c:strRef>
              <c:f>Sheet1!$B$1</c:f>
              <c:strCache>
                <c:ptCount val="1"/>
                <c:pt idx="0">
                  <c:v>Số test case</c:v>
                </c:pt>
              </c:strCache>
            </c:strRef>
          </c:tx>
          <c:spPr>
            <a:solidFill>
              <a:srgbClr val="223A5E"/>
            </a:solidFill>
          </c:spPr>
          <c:dPt>
            <c:idx val="1"/>
            <c:spPr>
              <a:solidFill>
                <a:srgbClr val="D7263D"/>
              </a:solidFill>
            </c:spPr>
          </c:dPt>
          <c:dPt>
            <c:idx val="2"/>
            <c:spPr>
              <a:solidFill>
                <a:srgbClr val="D7263D"/>
              </a:solidFill>
            </c:spPr>
          </c:dPt>
          <c:dPt>
            <c:idx val="3"/>
            <c:spPr>
              <a:solidFill>
                <a:srgbClr val="D7263D"/>
              </a:solidFill>
            </c:spPr>
          </c:dPt>
          <c:dPt>
            <c:idx val="4"/>
            <c:spPr>
              <a:solidFill>
                <a:srgbClr val="D7263D"/>
              </a:solidFill>
            </c:spPr>
          </c:dPt>
          <c:cat>
            <c:strRef>
              <c:f>Sheet1!$A$2:$A$6</c:f>
              <c:strCache>
                <c:ptCount val="5"/>
                <c:pt idx="0">
                  <c:v>Bình thường</c:v>
                </c:pt>
                <c:pt idx="1">
                  <c:v>Chiếm tài khoản</c:v>
                </c:pt>
                <c:pt idx="2">
                  <c:v>Đầu vào giả mạo</c:v>
                </c:pt>
                <c:pt idx="3">
                  <c:v>Sửa đổi dữ liệu</c:v>
                </c:pt>
                <c:pt idx="4">
                  <c:v>Phân quyền</c:v>
                </c:pt>
              </c:strCache>
            </c:strRef>
          </c:cat>
          <c:val>
            <c:numRef>
              <c:f>Sheet1!$B$2:$B$6</c:f>
              <c:numCache>
                <c:formatCode>General</c:formatCode>
                <c:ptCount val="5"/>
                <c:pt idx="0">
                  <c:v>6</c:v>
                </c:pt>
                <c:pt idx="1">
                  <c:v>9</c:v>
                </c:pt>
                <c:pt idx="2">
                  <c:v>8</c:v>
                </c:pt>
                <c:pt idx="3">
                  <c:v>5</c:v>
                </c:pt>
                <c:pt idx="4">
                  <c:v>5</c:v>
                </c:pt>
              </c:numCache>
            </c:numRef>
          </c:val>
        </c:ser>
        <c:dLbls>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3CAD6"/>
            </a:solid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4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nhóm và đề tài. Một câu tóm tắt: chúng em thiết kế hệ thống để một cuộc gọi deepfake của giám đốc, dù giống thật đến đâu, cũng không thể khiến tiền của công ty bị chuyển đi.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bối cảnh bằng số liệu. Nhấn mạnh: vấn đề không nằm ở việc nhân viên kém cẩn thận, mà ở chỗ quy trình mặc định tin vào những thứ có thể làm giả.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4 vai trò và nguyên tắc tách biệt nhiệm vụ. Bên phải là 5 nhóm tác nhân, ứng với các rủi ro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giả danh lãnh đạo và R2 email giả NCC có điểm cao nhất (20) – đây là trọng tâm thiết kế. Các rủi ro về chiếm tài khoản và sửa dữ liệu được xử lý bằng các lớp phòng thủ bổ sung.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thông điệp quan trọng nhất. Phát hiện deepfake là cuộc đua vũ trang và không bao giờ đạt 100%. Thay vào đó, tiền chỉ được chuyển khi có bằng chứng mật mã từ đúng người – thứ mà deepfake không tạo ra được.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vùng tin cậy. Dữ liệu từ vùng đỏ chỉ vào hệ thống qua tay người nhập, kèm nhãn kênh nguồn. Điện thoại người duyệt là kênh thứ hai độc lập với trình duyệt. Máy chủ vẫn không tin CSDL của chính nó: kiểm tra lại HMAC trước khi thực thi. Sổ đăng ký NCC là mỏ neo tin cậy.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theo các bước 1–14. Nhấn vào bước 4 (STK từ sổ), bước 6–8 (WYSIWYS trên kênh thứ hai) và bước 12 (kiểm tra lại).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cơ chế giải quyết một nhóm rủi ro. 1–2 chống chiếm tài khoản và sửa nội dung; 3–4 chống giả danh lãnh đạo; 5 chống BEC đổi tài khoản; 6 chống nội gián và che dấu vết.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luật minh bạch, giải thích được cho kế toán và kiểm toán viên. Điểm quan trọng: kẻ gian không thể làm yêu cầu trông an toàn hơn bằng cách thêm thông tin, vì không luật nào trừ điểm.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KB03, KB04 – test TC16 đến TC19. Có thể demo trực tiếp trên web: tạo lệnh với kênh Cuộc gọi thoại, tự xưng Giám đốc, rồi thử gọi lại số 0988 777 666.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KB05, KB06 – test TC05, TC20, TC21, TC22. Lệnh đã duyệt trước khi đổi STK cũng bị chặn khi thực thi.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từ trái sang phải: mật khẩu → OTP → thiết bị → phiên → điện thoại của một người duyệt. Ở lớp cuối, khoá khẩn cấp thu hồi thiết bị, huỷ phiên và huỷ cả các chữ ký đã ký nhưng chưa thực thi (TC15).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trên web: nút 'Tấn công: mã độc tráo số tiền', nút 'Sửa trực tiếp trong CSDL', và trang Nhật ký với nút sửa/xoá bản ghi.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bài yêu cầu ít nhất một tình huống đầu vào bị giả mạo, chỉnh sửa, đánh cắp hoặc sử dụng sai ngữ cảnh – nhóm xử lý cả bốn dạng. Nhấn mạnh hai ý mới: ảnh hoá đơn bị sửa STK vẫn bị chặn vì STK luôn lấy từ sổ đăng ký (KB15, TC33); và dữ liệu thật nhưng dùng sai ngữ cảnh – như chữ ký hợp lệ của lệnh A đem dùng cho lệnh B – bị từ chối vì mọi chữ ký đều gắn với đúng lệnh, đúng quyết định và đúng thời hạn (báo cáo mục 5.8).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sang demo trực tiếp ở bước này nếu có thời gian: KB01 luồng bình thường, KB04 giả giọng giám đốc, KB10 tráo nội dung, KB14 sửa nhật ký.</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test case đầy đủ ở chương 7 của báo cáo. Kết quả lưu trong thư mục ket_qua_kiem_thu. Lưu ý trung thực: kiểm thử chứng minh hệ thống thực hiện đúng chính sách trong các tình huống đã nêu, không chứng minh an toàn trước mọi tấn công.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Trade-off quan trọng nhất là an toàn – tiện lợi. Ngắn hạn: chậm và gây phản ứng. Dài hạn: thành thói quen, và một vụ BEC bị chặn (hàng trăm triệu đến hàng tỷ đồng) bù đắp chi phí chậm trễ nhiều năm.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thẳng thắn các rủi ro còn lại – đặc biệt là sự phụ thuộc vào dữ liệu gốc và rủi ro thông đồng.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Nhắc lại thông điệp chính: deepfake hoàn hảo đến đâu cũng không tạo được chữ ký từ điện thoại của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A"/>
        </a:solidFill>
        <a:effectLst/>
      </p:bgPr>
    </p:bg>
    <p:spTree>
      <p:nvGrpSpPr>
        <p:cNvPr id="1" name=""/>
        <p:cNvGrpSpPr/>
        <p:nvPr/>
      </p:nvGrpSpPr>
      <p:grpSpPr/>
      <p:sp>
        <p:nvSpPr>
          <p:cNvPr id="2" name="Oval 1"/>
          <p:cNvSpPr/>
          <p:nvPr/>
        </p:nvSpPr>
        <p:spPr>
          <a:xfrm>
            <a:off x="822960" y="1234440"/>
            <a:ext cx="822960" cy="8229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libri"/>
              </a:rPr>
              <a:t>✓</a:t>
            </a:r>
          </a:p>
        </p:txBody>
      </p:sp>
      <p:sp>
        <p:nvSpPr>
          <p:cNvPr id="3" name="TextBox 2"/>
          <p:cNvSpPr txBox="1"/>
          <p:nvPr/>
        </p:nvSpPr>
        <p:spPr>
          <a:xfrm>
            <a:off x="822960" y="2240280"/>
            <a:ext cx="10058400" cy="1005840"/>
          </a:xfrm>
          <a:prstGeom prst="rect">
            <a:avLst/>
          </a:prstGeom>
          <a:noFill/>
        </p:spPr>
        <p:txBody>
          <a:bodyPr wrap="square" anchor="t" lIns="45720" rIns="45720">
            <a:spAutoFit/>
          </a:bodyPr>
          <a:lstStyle/>
          <a:p>
            <a:pPr algn="l">
              <a:spcAft>
                <a:spcPts val="600"/>
              </a:spcAft>
            </a:pPr>
            <a:r>
              <a:rPr sz="6000" b="1" i="0">
                <a:solidFill>
                  <a:srgbClr val="FFFFFF"/>
                </a:solidFill>
                <a:latin typeface="Cambria"/>
              </a:rPr>
              <a:t>SafePay Guard</a:t>
            </a:r>
          </a:p>
        </p:txBody>
      </p:sp>
      <p:sp>
        <p:nvSpPr>
          <p:cNvPr id="4" name="TextBox 3"/>
          <p:cNvSpPr txBox="1"/>
          <p:nvPr/>
        </p:nvSpPr>
        <p:spPr>
          <a:xfrm>
            <a:off x="822960" y="3246120"/>
            <a:ext cx="10241280" cy="1097280"/>
          </a:xfrm>
          <a:prstGeom prst="rect">
            <a:avLst/>
          </a:prstGeom>
          <a:noFill/>
        </p:spPr>
        <p:txBody>
          <a:bodyPr wrap="square" anchor="t" lIns="45720" rIns="45720">
            <a:spAutoFit/>
          </a:bodyPr>
          <a:lstStyle/>
          <a:p>
            <a:pPr algn="l">
              <a:spcAft>
                <a:spcPts val="600"/>
              </a:spcAft>
            </a:pPr>
            <a:r>
              <a:rPr sz="2200" b="0" i="0">
                <a:solidFill>
                  <a:srgbClr val="C8D3E3"/>
                </a:solidFill>
                <a:latin typeface="Calibri"/>
              </a:rPr>
              <a:t>Hệ thống xác minh và phê duyệt lệnh chuyển tiền chống giả mạo (deepfake, BEC) cho doanh nghiệp vừa và nhỏ</a:t>
            </a:r>
          </a:p>
        </p:txBody>
      </p:sp>
      <p:sp>
        <p:nvSpPr>
          <p:cNvPr id="5" name="TextBox 4"/>
          <p:cNvSpPr txBox="1"/>
          <p:nvPr/>
        </p:nvSpPr>
        <p:spPr>
          <a:xfrm>
            <a:off x="822960" y="4663440"/>
            <a:ext cx="10058400" cy="365760"/>
          </a:xfrm>
          <a:prstGeom prst="rect">
            <a:avLst/>
          </a:prstGeom>
          <a:noFill/>
        </p:spPr>
        <p:txBody>
          <a:bodyPr wrap="square" anchor="t" lIns="45720" rIns="45720">
            <a:spAutoFit/>
          </a:bodyPr>
          <a:lstStyle/>
          <a:p>
            <a:pPr algn="l">
              <a:spcAft>
                <a:spcPts val="600"/>
              </a:spcAft>
            </a:pPr>
            <a:r>
              <a:rPr sz="1600" b="0" i="0">
                <a:solidFill>
                  <a:srgbClr val="8A9BB5"/>
                </a:solidFill>
                <a:latin typeface="Calibri"/>
              </a:rPr>
              <a:t>Đồ án cuối kỳ · Bảo mật mạng máy tính và hệ thống · Hướng 1 – Security</a:t>
            </a:r>
          </a:p>
        </p:txBody>
      </p:sp>
      <p:sp>
        <p:nvSpPr>
          <p:cNvPr id="6" name="TextBox 5"/>
          <p:cNvSpPr txBox="1"/>
          <p:nvPr/>
        </p:nvSpPr>
        <p:spPr>
          <a:xfrm>
            <a:off x="822960" y="5074920"/>
            <a:ext cx="10058400" cy="365760"/>
          </a:xfrm>
          <a:prstGeom prst="rect">
            <a:avLst/>
          </a:prstGeom>
          <a:noFill/>
        </p:spPr>
        <p:txBody>
          <a:bodyPr wrap="square" anchor="t" lIns="45720" rIns="45720">
            <a:spAutoFit/>
          </a:bodyPr>
          <a:lstStyle/>
          <a:p>
            <a:pPr algn="l">
              <a:spcAft>
                <a:spcPts val="600"/>
              </a:spcAft>
            </a:pPr>
            <a:r>
              <a:rPr sz="1600" b="0" i="0">
                <a:solidFill>
                  <a:srgbClr val="8A9BB5"/>
                </a:solidFill>
                <a:latin typeface="Calibri"/>
              </a:rPr>
              <a:t>Nhóm: ……………………  ·  GVHD: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Bài toán: tiền bị chuyển vì yêu cầu “trông có vẻ thật”</a:t>
            </a:r>
          </a:p>
        </p:txBody>
      </p:sp>
      <p:sp>
        <p:nvSpPr>
          <p:cNvPr id="3" name="Rounded Rectangle 2"/>
          <p:cNvSpPr/>
          <p:nvPr/>
        </p:nvSpPr>
        <p:spPr>
          <a:xfrm>
            <a:off x="548640" y="1554480"/>
            <a:ext cx="3474720" cy="27432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783080"/>
            <a:ext cx="3017520" cy="822960"/>
          </a:xfrm>
          <a:prstGeom prst="rect">
            <a:avLst/>
          </a:prstGeom>
          <a:noFill/>
        </p:spPr>
        <p:txBody>
          <a:bodyPr wrap="square" anchor="t" lIns="45720" rIns="45720">
            <a:spAutoFit/>
          </a:bodyPr>
          <a:lstStyle/>
          <a:p>
            <a:pPr algn="l">
              <a:spcAft>
                <a:spcPts val="600"/>
              </a:spcAft>
            </a:pPr>
            <a:r>
              <a:rPr sz="3800" b="1" i="0">
                <a:solidFill>
                  <a:srgbClr val="D7263D"/>
                </a:solidFill>
                <a:latin typeface="Cambria"/>
              </a:rPr>
              <a:t>2,9 tỷ USD</a:t>
            </a:r>
          </a:p>
        </p:txBody>
      </p:sp>
      <p:sp>
        <p:nvSpPr>
          <p:cNvPr id="5" name="TextBox 4"/>
          <p:cNvSpPr txBox="1"/>
          <p:nvPr/>
        </p:nvSpPr>
        <p:spPr>
          <a:xfrm>
            <a:off x="822959" y="2651760"/>
            <a:ext cx="3017520" cy="1097280"/>
          </a:xfrm>
          <a:prstGeom prst="rect">
            <a:avLst/>
          </a:prstGeom>
          <a:noFill/>
        </p:spPr>
        <p:txBody>
          <a:bodyPr wrap="square" anchor="t" lIns="45720" rIns="45720">
            <a:spAutoFit/>
          </a:bodyPr>
          <a:lstStyle/>
          <a:p>
            <a:pPr algn="l">
              <a:spcAft>
                <a:spcPts val="600"/>
              </a:spcAft>
            </a:pPr>
            <a:r>
              <a:rPr sz="1500" b="0" i="0">
                <a:solidFill>
                  <a:srgbClr val="1D2433"/>
                </a:solidFill>
                <a:latin typeface="Calibri"/>
              </a:rPr>
              <a:t>thiệt hại do lừa đảo email doanh nghiệp (BEC) tại Mỹ năm 2023</a:t>
            </a:r>
          </a:p>
        </p:txBody>
      </p:sp>
      <p:sp>
        <p:nvSpPr>
          <p:cNvPr id="6" name="TextBox 5"/>
          <p:cNvSpPr txBox="1"/>
          <p:nvPr/>
        </p:nvSpPr>
        <p:spPr>
          <a:xfrm>
            <a:off x="822959" y="3794760"/>
            <a:ext cx="3017520" cy="365760"/>
          </a:xfrm>
          <a:prstGeom prst="rect">
            <a:avLst/>
          </a:prstGeom>
          <a:noFill/>
        </p:spPr>
        <p:txBody>
          <a:bodyPr wrap="square" anchor="t" lIns="45720" rIns="45720">
            <a:spAutoFit/>
          </a:bodyPr>
          <a:lstStyle/>
          <a:p>
            <a:pPr algn="l">
              <a:spcAft>
                <a:spcPts val="600"/>
              </a:spcAft>
            </a:pPr>
            <a:r>
              <a:rPr sz="1100" b="0" i="0">
                <a:solidFill>
                  <a:srgbClr val="5B667A"/>
                </a:solidFill>
                <a:latin typeface="Calibri"/>
              </a:rPr>
              <a:t>FBI IC3, Internet Crime Report 2023</a:t>
            </a:r>
          </a:p>
        </p:txBody>
      </p:sp>
      <p:sp>
        <p:nvSpPr>
          <p:cNvPr id="7" name="Rounded Rectangle 6"/>
          <p:cNvSpPr/>
          <p:nvPr/>
        </p:nvSpPr>
        <p:spPr>
          <a:xfrm>
            <a:off x="4297679" y="1554480"/>
            <a:ext cx="3474720" cy="27432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783080"/>
            <a:ext cx="3017520" cy="822960"/>
          </a:xfrm>
          <a:prstGeom prst="rect">
            <a:avLst/>
          </a:prstGeom>
          <a:noFill/>
        </p:spPr>
        <p:txBody>
          <a:bodyPr wrap="square" anchor="t" lIns="45720" rIns="45720">
            <a:spAutoFit/>
          </a:bodyPr>
          <a:lstStyle/>
          <a:p>
            <a:pPr algn="l">
              <a:spcAft>
                <a:spcPts val="600"/>
              </a:spcAft>
            </a:pPr>
            <a:r>
              <a:rPr sz="3800" b="1" i="0">
                <a:solidFill>
                  <a:srgbClr val="D7263D"/>
                </a:solidFill>
                <a:latin typeface="Cambria"/>
              </a:rPr>
              <a:t>25 triệu USD</a:t>
            </a:r>
          </a:p>
        </p:txBody>
      </p:sp>
      <p:sp>
        <p:nvSpPr>
          <p:cNvPr id="9" name="TextBox 8"/>
          <p:cNvSpPr txBox="1"/>
          <p:nvPr/>
        </p:nvSpPr>
        <p:spPr>
          <a:xfrm>
            <a:off x="4571999" y="2651760"/>
            <a:ext cx="3017520" cy="1097280"/>
          </a:xfrm>
          <a:prstGeom prst="rect">
            <a:avLst/>
          </a:prstGeom>
          <a:noFill/>
        </p:spPr>
        <p:txBody>
          <a:bodyPr wrap="square" anchor="t" lIns="45720" rIns="45720">
            <a:spAutoFit/>
          </a:bodyPr>
          <a:lstStyle/>
          <a:p>
            <a:pPr algn="l">
              <a:spcAft>
                <a:spcPts val="600"/>
              </a:spcAft>
            </a:pPr>
            <a:r>
              <a:rPr sz="1500" b="0" i="0">
                <a:solidFill>
                  <a:srgbClr val="1D2433"/>
                </a:solidFill>
                <a:latin typeface="Calibri"/>
              </a:rPr>
              <a:t>một nhân viên Arup (Hồng Kông) chuyển đi sau cuộc họp video toàn người deepfake</a:t>
            </a:r>
          </a:p>
        </p:txBody>
      </p:sp>
      <p:sp>
        <p:nvSpPr>
          <p:cNvPr id="10" name="TextBox 9"/>
          <p:cNvSpPr txBox="1"/>
          <p:nvPr/>
        </p:nvSpPr>
        <p:spPr>
          <a:xfrm>
            <a:off x="4571999" y="3794760"/>
            <a:ext cx="3017520" cy="365760"/>
          </a:xfrm>
          <a:prstGeom prst="rect">
            <a:avLst/>
          </a:prstGeom>
          <a:noFill/>
        </p:spPr>
        <p:txBody>
          <a:bodyPr wrap="square" anchor="t" lIns="45720" rIns="45720">
            <a:spAutoFit/>
          </a:bodyPr>
          <a:lstStyle/>
          <a:p>
            <a:pPr algn="l">
              <a:spcAft>
                <a:spcPts val="600"/>
              </a:spcAft>
            </a:pPr>
            <a:r>
              <a:rPr sz="1100" b="0" i="0">
                <a:solidFill>
                  <a:srgbClr val="5B667A"/>
                </a:solidFill>
                <a:latin typeface="Calibri"/>
              </a:rPr>
              <a:t>CNN, 02/2024</a:t>
            </a:r>
          </a:p>
        </p:txBody>
      </p:sp>
      <p:sp>
        <p:nvSpPr>
          <p:cNvPr id="11" name="Rounded Rectangle 10"/>
          <p:cNvSpPr/>
          <p:nvPr/>
        </p:nvSpPr>
        <p:spPr>
          <a:xfrm>
            <a:off x="8046719" y="1554480"/>
            <a:ext cx="3474720" cy="27432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783080"/>
            <a:ext cx="3017520" cy="822960"/>
          </a:xfrm>
          <a:prstGeom prst="rect">
            <a:avLst/>
          </a:prstGeom>
          <a:noFill/>
        </p:spPr>
        <p:txBody>
          <a:bodyPr wrap="square" anchor="t" lIns="45720" rIns="45720">
            <a:spAutoFit/>
          </a:bodyPr>
          <a:lstStyle/>
          <a:p>
            <a:pPr algn="l">
              <a:spcAft>
                <a:spcPts val="600"/>
              </a:spcAft>
            </a:pPr>
            <a:r>
              <a:rPr sz="3800" b="1" i="0">
                <a:solidFill>
                  <a:srgbClr val="C97C10"/>
                </a:solidFill>
                <a:latin typeface="Cambria"/>
              </a:rPr>
              <a:t>Zalo · video</a:t>
            </a:r>
          </a:p>
        </p:txBody>
      </p:sp>
      <p:sp>
        <p:nvSpPr>
          <p:cNvPr id="13" name="TextBox 12"/>
          <p:cNvSpPr txBox="1"/>
          <p:nvPr/>
        </p:nvSpPr>
        <p:spPr>
          <a:xfrm>
            <a:off x="8321040" y="2651760"/>
            <a:ext cx="3017520" cy="1097280"/>
          </a:xfrm>
          <a:prstGeom prst="rect">
            <a:avLst/>
          </a:prstGeom>
          <a:noFill/>
        </p:spPr>
        <p:txBody>
          <a:bodyPr wrap="square" anchor="t" lIns="45720" rIns="45720">
            <a:spAutoFit/>
          </a:bodyPr>
          <a:lstStyle/>
          <a:p>
            <a:pPr algn="l">
              <a:spcAft>
                <a:spcPts val="600"/>
              </a:spcAft>
            </a:pPr>
            <a:r>
              <a:rPr sz="1500" b="0" i="0">
                <a:solidFill>
                  <a:srgbClr val="1D2433"/>
                </a:solidFill>
                <a:latin typeface="Calibri"/>
              </a:rPr>
              <a:t>thủ đoạn giả danh lãnh đạo yêu cầu kế toán chuyển tiền gấp tại Việt Nam</a:t>
            </a:r>
          </a:p>
        </p:txBody>
      </p:sp>
      <p:sp>
        <p:nvSpPr>
          <p:cNvPr id="14" name="TextBox 13"/>
          <p:cNvSpPr txBox="1"/>
          <p:nvPr/>
        </p:nvSpPr>
        <p:spPr>
          <a:xfrm>
            <a:off x="8321040" y="3794760"/>
            <a:ext cx="3017520" cy="365760"/>
          </a:xfrm>
          <a:prstGeom prst="rect">
            <a:avLst/>
          </a:prstGeom>
          <a:noFill/>
        </p:spPr>
        <p:txBody>
          <a:bodyPr wrap="square" anchor="t" lIns="45720" rIns="45720">
            <a:spAutoFit/>
          </a:bodyPr>
          <a:lstStyle/>
          <a:p>
            <a:pPr algn="l">
              <a:spcAft>
                <a:spcPts val="600"/>
              </a:spcAft>
            </a:pPr>
            <a:r>
              <a:rPr sz="1100" b="0" i="0">
                <a:solidFill>
                  <a:srgbClr val="5B667A"/>
                </a:solidFill>
                <a:latin typeface="Calibri"/>
              </a:rPr>
              <a:t>Cảnh báo của cơ quan công an</a:t>
            </a:r>
          </a:p>
        </p:txBody>
      </p:sp>
      <p:sp>
        <p:nvSpPr>
          <p:cNvPr id="15" name="Rounded Rectangle 14"/>
          <p:cNvSpPr/>
          <p:nvPr/>
        </p:nvSpPr>
        <p:spPr>
          <a:xfrm>
            <a:off x="548640" y="4572000"/>
            <a:ext cx="11064240" cy="1508760"/>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709160"/>
            <a:ext cx="10515600" cy="1280160"/>
          </a:xfrm>
          <a:prstGeom prst="rect">
            <a:avLst/>
          </a:prstGeom>
          <a:noFill/>
        </p:spPr>
        <p:txBody>
          <a:bodyPr wrap="square" anchor="ctr" lIns="45720" rIns="45720">
            <a:spAutoFit/>
          </a:bodyPr>
          <a:lstStyle/>
          <a:p>
            <a:pPr algn="l">
              <a:spcAft>
                <a:spcPts val="600"/>
              </a:spcAft>
            </a:pPr>
            <a:r>
              <a:rPr sz="1700" b="1" i="0">
                <a:solidFill>
                  <a:srgbClr val="FFFFFF"/>
                </a:solidFill>
                <a:latin typeface="Calibri"/>
              </a:rPr>
              <a:t>Điểm yếu chung: </a:t>
            </a:r>
            <a:r>
              <a:rPr sz="1700" b="0" i="0">
                <a:solidFill>
                  <a:srgbClr val="FFFFFF"/>
                </a:solidFill>
                <a:latin typeface="Calibri"/>
              </a:rPr>
              <a:t>quy trình tin vào giọng nói, khuôn mặt, địa chỉ email, chữ ký trên văn bản – tất cả đều làm giả được với chi phí ngày càng thấp.</a:t>
            </a:r>
          </a:p>
          <a:p>
            <a:pPr algn="l">
              <a:spcAft>
                <a:spcPts val="600"/>
              </a:spcAft>
            </a:pPr>
            <a:r>
              <a:rPr sz="1700" b="1" i="0">
                <a:solidFill>
                  <a:srgbClr val="8FE3CF"/>
                </a:solidFill>
                <a:latin typeface="Calibri"/>
              </a:rPr>
              <a:t>Câu hỏi của đồ án: </a:t>
            </a:r>
            <a:r>
              <a:rPr sz="1700" b="0" i="0">
                <a:solidFill>
                  <a:srgbClr val="FFFFFF"/>
                </a:solidFill>
                <a:latin typeface="Calibri"/>
              </a:rPr>
              <a:t>hệ thống dựa vào đâu để tin, kiểm chứng hoặc từ chối một yêu cầu chuyển tiền?</a:t>
            </a:r>
          </a:p>
        </p:txBody>
      </p:sp>
      <p:sp>
        <p:nvSpPr>
          <p:cNvPr id="17" name="TextBox 16"/>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8" name="TextBox 17"/>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Ai dùng hệ thống, ai tấn công</a:t>
            </a:r>
          </a:p>
        </p:txBody>
      </p:sp>
      <p:sp>
        <p:nvSpPr>
          <p:cNvPr id="3" name="TextBox 2"/>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i="0">
                <a:solidFill>
                  <a:srgbClr val="5B667A"/>
                </a:solidFill>
                <a:latin typeface="Calibri"/>
              </a:rPr>
              <a:t>Doanh nghiệp 20–200 nhân sự, chuyển tiền cho nhà cung cấp qua Internet Banking hằng tuần</a:t>
            </a:r>
          </a:p>
        </p:txBody>
      </p:sp>
      <p:sp>
        <p:nvSpPr>
          <p:cNvPr id="4" name="Oval 3"/>
          <p:cNvSpPr/>
          <p:nvPr/>
        </p:nvSpPr>
        <p:spPr>
          <a:xfrm>
            <a:off x="548640" y="1691640"/>
            <a:ext cx="548640" cy="54864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 name="TextBox 4"/>
          <p:cNvSpPr txBox="1"/>
          <p:nvPr/>
        </p:nvSpPr>
        <p:spPr>
          <a:xfrm>
            <a:off x="1280160" y="1645920"/>
            <a:ext cx="4206240" cy="365760"/>
          </a:xfrm>
          <a:prstGeom prst="rect">
            <a:avLst/>
          </a:prstGeom>
          <a:noFill/>
        </p:spPr>
        <p:txBody>
          <a:bodyPr wrap="square" anchor="t" lIns="45720" rIns="45720">
            <a:spAutoFit/>
          </a:bodyPr>
          <a:lstStyle/>
          <a:p>
            <a:pPr algn="l">
              <a:spcAft>
                <a:spcPts val="600"/>
              </a:spcAft>
            </a:pPr>
            <a:r>
              <a:rPr sz="1700" b="1" i="0">
                <a:solidFill>
                  <a:srgbClr val="1D2433"/>
                </a:solidFill>
                <a:latin typeface="Cambria"/>
              </a:rPr>
              <a:t>Kế toán viên</a:t>
            </a:r>
          </a:p>
        </p:txBody>
      </p:sp>
      <p:sp>
        <p:nvSpPr>
          <p:cNvPr id="6" name="TextBox 5"/>
          <p:cNvSpPr txBox="1"/>
          <p:nvPr/>
        </p:nvSpPr>
        <p:spPr>
          <a:xfrm>
            <a:off x="1280160" y="2020824"/>
            <a:ext cx="4206240" cy="640080"/>
          </a:xfrm>
          <a:prstGeom prst="rect">
            <a:avLst/>
          </a:prstGeom>
          <a:noFill/>
        </p:spPr>
        <p:txBody>
          <a:bodyPr wrap="square" anchor="t" lIns="45720" rIns="45720">
            <a:spAutoFit/>
          </a:bodyPr>
          <a:lstStyle/>
          <a:p>
            <a:pPr algn="l">
              <a:spcAft>
                <a:spcPts val="600"/>
              </a:spcAft>
            </a:pPr>
            <a:r>
              <a:rPr sz="1400" b="0" i="0">
                <a:solidFill>
                  <a:srgbClr val="5B667A"/>
                </a:solidFill>
                <a:latin typeface="Calibri"/>
              </a:rPr>
              <a:t>Lập lệnh, tiếp nhận yêu cầu đổi STK. Không được duyệt.</a:t>
            </a:r>
          </a:p>
        </p:txBody>
      </p:sp>
      <p:sp>
        <p:nvSpPr>
          <p:cNvPr id="7" name="Oval 6"/>
          <p:cNvSpPr/>
          <p:nvPr/>
        </p:nvSpPr>
        <p:spPr>
          <a:xfrm>
            <a:off x="548640" y="2807208"/>
            <a:ext cx="548640" cy="54864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 name="TextBox 7"/>
          <p:cNvSpPr txBox="1"/>
          <p:nvPr/>
        </p:nvSpPr>
        <p:spPr>
          <a:xfrm>
            <a:off x="1280160" y="2761488"/>
            <a:ext cx="4206240" cy="365760"/>
          </a:xfrm>
          <a:prstGeom prst="rect">
            <a:avLst/>
          </a:prstGeom>
          <a:noFill/>
        </p:spPr>
        <p:txBody>
          <a:bodyPr wrap="square" anchor="t" lIns="45720" rIns="45720">
            <a:spAutoFit/>
          </a:bodyPr>
          <a:lstStyle/>
          <a:p>
            <a:pPr algn="l">
              <a:spcAft>
                <a:spcPts val="600"/>
              </a:spcAft>
            </a:pPr>
            <a:r>
              <a:rPr sz="1700" b="1" i="0">
                <a:solidFill>
                  <a:srgbClr val="1D2433"/>
                </a:solidFill>
                <a:latin typeface="Cambria"/>
              </a:rPr>
              <a:t>Kế toán trưởng</a:t>
            </a:r>
          </a:p>
        </p:txBody>
      </p:sp>
      <p:sp>
        <p:nvSpPr>
          <p:cNvPr id="9" name="TextBox 8"/>
          <p:cNvSpPr txBox="1"/>
          <p:nvPr/>
        </p:nvSpPr>
        <p:spPr>
          <a:xfrm>
            <a:off x="1280160" y="3136392"/>
            <a:ext cx="4206240" cy="640080"/>
          </a:xfrm>
          <a:prstGeom prst="rect">
            <a:avLst/>
          </a:prstGeom>
          <a:noFill/>
        </p:spPr>
        <p:txBody>
          <a:bodyPr wrap="square" anchor="t" lIns="45720" rIns="45720">
            <a:spAutoFit/>
          </a:bodyPr>
          <a:lstStyle/>
          <a:p>
            <a:pPr algn="l">
              <a:spcAft>
                <a:spcPts val="600"/>
              </a:spcAft>
            </a:pPr>
            <a:r>
              <a:rPr sz="1400" b="0" i="0">
                <a:solidFill>
                  <a:srgbClr val="5B667A"/>
                </a:solidFill>
                <a:latin typeface="Calibri"/>
              </a:rPr>
              <a:t>Duyệt lệnh, gọi lại xác minh, duyệt đổi STK.</a:t>
            </a:r>
          </a:p>
        </p:txBody>
      </p:sp>
      <p:sp>
        <p:nvSpPr>
          <p:cNvPr id="10" name="Oval 9"/>
          <p:cNvSpPr/>
          <p:nvPr/>
        </p:nvSpPr>
        <p:spPr>
          <a:xfrm>
            <a:off x="548640" y="3922776"/>
            <a:ext cx="548640" cy="54864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280160" y="3877056"/>
            <a:ext cx="4206240" cy="365760"/>
          </a:xfrm>
          <a:prstGeom prst="rect">
            <a:avLst/>
          </a:prstGeom>
          <a:noFill/>
        </p:spPr>
        <p:txBody>
          <a:bodyPr wrap="square" anchor="t" lIns="45720" rIns="45720">
            <a:spAutoFit/>
          </a:bodyPr>
          <a:lstStyle/>
          <a:p>
            <a:pPr algn="l">
              <a:spcAft>
                <a:spcPts val="600"/>
              </a:spcAft>
            </a:pPr>
            <a:r>
              <a:rPr sz="1700" b="1" i="0">
                <a:solidFill>
                  <a:srgbClr val="1D2433"/>
                </a:solidFill>
                <a:latin typeface="Cambria"/>
              </a:rPr>
              <a:t>Giám đốc / Phó GĐ</a:t>
            </a:r>
          </a:p>
        </p:txBody>
      </p:sp>
      <p:sp>
        <p:nvSpPr>
          <p:cNvPr id="12" name="TextBox 11"/>
          <p:cNvSpPr txBox="1"/>
          <p:nvPr/>
        </p:nvSpPr>
        <p:spPr>
          <a:xfrm>
            <a:off x="1280160" y="4251960"/>
            <a:ext cx="4206240" cy="640080"/>
          </a:xfrm>
          <a:prstGeom prst="rect">
            <a:avLst/>
          </a:prstGeom>
          <a:noFill/>
        </p:spPr>
        <p:txBody>
          <a:bodyPr wrap="square" anchor="t" lIns="45720" rIns="45720">
            <a:spAutoFit/>
          </a:bodyPr>
          <a:lstStyle/>
          <a:p>
            <a:pPr algn="l">
              <a:spcAft>
                <a:spcPts val="600"/>
              </a:spcAft>
            </a:pPr>
            <a:r>
              <a:rPr sz="1400" b="0" i="0">
                <a:solidFill>
                  <a:srgbClr val="5B667A"/>
                </a:solidFill>
                <a:latin typeface="Calibri"/>
              </a:rPr>
              <a:t>Bắt buộc với lệnh ≥ 500 triệu hoặc rủi ro cao.</a:t>
            </a:r>
          </a:p>
        </p:txBody>
      </p:sp>
      <p:sp>
        <p:nvSpPr>
          <p:cNvPr id="13" name="Oval 12"/>
          <p:cNvSpPr/>
          <p:nvPr/>
        </p:nvSpPr>
        <p:spPr>
          <a:xfrm>
            <a:off x="548640" y="5038344"/>
            <a:ext cx="548640" cy="54864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80160" y="4992624"/>
            <a:ext cx="4206240" cy="365760"/>
          </a:xfrm>
          <a:prstGeom prst="rect">
            <a:avLst/>
          </a:prstGeom>
          <a:noFill/>
        </p:spPr>
        <p:txBody>
          <a:bodyPr wrap="square" anchor="t" lIns="45720" rIns="45720">
            <a:spAutoFit/>
          </a:bodyPr>
          <a:lstStyle/>
          <a:p>
            <a:pPr algn="l">
              <a:spcAft>
                <a:spcPts val="600"/>
              </a:spcAft>
            </a:pPr>
            <a:r>
              <a:rPr sz="1700" b="1" i="0">
                <a:solidFill>
                  <a:srgbClr val="1D2433"/>
                </a:solidFill>
                <a:latin typeface="Cambria"/>
              </a:rPr>
              <a:t>Quản trị IT</a:t>
            </a:r>
          </a:p>
        </p:txBody>
      </p:sp>
      <p:sp>
        <p:nvSpPr>
          <p:cNvPr id="15" name="TextBox 14"/>
          <p:cNvSpPr txBox="1"/>
          <p:nvPr/>
        </p:nvSpPr>
        <p:spPr>
          <a:xfrm>
            <a:off x="1280160" y="5367528"/>
            <a:ext cx="4206240" cy="640080"/>
          </a:xfrm>
          <a:prstGeom prst="rect">
            <a:avLst/>
          </a:prstGeom>
          <a:noFill/>
        </p:spPr>
        <p:txBody>
          <a:bodyPr wrap="square" anchor="t" lIns="45720" rIns="45720">
            <a:spAutoFit/>
          </a:bodyPr>
          <a:lstStyle/>
          <a:p>
            <a:pPr algn="l">
              <a:spcAft>
                <a:spcPts val="600"/>
              </a:spcAft>
            </a:pPr>
            <a:r>
              <a:rPr sz="1400" b="0" i="0">
                <a:solidFill>
                  <a:srgbClr val="5B667A"/>
                </a:solidFill>
                <a:latin typeface="Calibri"/>
              </a:rPr>
              <a:t>Duyệt thiết bị mới, khoá khẩn cấp. Không có quyền nghiệp vụ.</a:t>
            </a:r>
          </a:p>
        </p:txBody>
      </p:sp>
      <p:sp>
        <p:nvSpPr>
          <p:cNvPr id="16" name="Rounded Rectangle 15"/>
          <p:cNvSpPr/>
          <p:nvPr/>
        </p:nvSpPr>
        <p:spPr>
          <a:xfrm>
            <a:off x="5943600" y="1600200"/>
            <a:ext cx="5669280" cy="4526280"/>
          </a:xfrm>
          <a:prstGeom prst="roundRect">
            <a:avLst>
              <a:gd name="adj" fmla="val 5000"/>
            </a:avLst>
          </a:prstGeom>
          <a:solidFill>
            <a:srgbClr val="FC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783080"/>
            <a:ext cx="5120640" cy="457200"/>
          </a:xfrm>
          <a:prstGeom prst="rect">
            <a:avLst/>
          </a:prstGeom>
          <a:noFill/>
        </p:spPr>
        <p:txBody>
          <a:bodyPr wrap="square" anchor="t" lIns="45720" rIns="45720">
            <a:spAutoFit/>
          </a:bodyPr>
          <a:lstStyle/>
          <a:p>
            <a:pPr algn="l">
              <a:spcAft>
                <a:spcPts val="600"/>
              </a:spcAft>
            </a:pPr>
            <a:r>
              <a:rPr sz="2000" b="1" i="0">
                <a:solidFill>
                  <a:srgbClr val="D7263D"/>
                </a:solidFill>
                <a:latin typeface="Cambria"/>
              </a:rPr>
              <a:t>Tác nhân đe dọa</a:t>
            </a:r>
          </a:p>
        </p:txBody>
      </p:sp>
      <p:sp>
        <p:nvSpPr>
          <p:cNvPr id="18" name="TextBox 17"/>
          <p:cNvSpPr txBox="1"/>
          <p:nvPr/>
        </p:nvSpPr>
        <p:spPr>
          <a:xfrm>
            <a:off x="6263640" y="2331720"/>
            <a:ext cx="5120640" cy="3657600"/>
          </a:xfrm>
          <a:prstGeom prst="rect">
            <a:avLst/>
          </a:prstGeom>
          <a:noFill/>
        </p:spPr>
        <p:txBody>
          <a:bodyPr wrap="square" anchor="t" lIns="45720" rIns="45720">
            <a:spAutoFit/>
          </a:bodyPr>
          <a:lstStyle/>
          <a:p>
            <a:pPr algn="l">
              <a:spcAft>
                <a:spcPts val="900"/>
              </a:spcAft>
            </a:pPr>
            <a:r>
              <a:rPr sz="1500" b="0" i="0">
                <a:solidFill>
                  <a:srgbClr val="D7263D"/>
                </a:solidFill>
                <a:latin typeface="Calibri"/>
              </a:rPr>
              <a:t>•  </a:t>
            </a:r>
            <a:r>
              <a:rPr sz="1500" b="1" i="0">
                <a:solidFill>
                  <a:srgbClr val="1D2433"/>
                </a:solidFill>
                <a:latin typeface="Calibri"/>
              </a:rPr>
              <a:t>Nhóm lừa đảo BEC: </a:t>
            </a:r>
            <a:r>
              <a:rPr sz="1500" b="0" i="0">
                <a:solidFill>
                  <a:srgbClr val="1D2433"/>
                </a:solidFill>
                <a:latin typeface="Calibri"/>
              </a:rPr>
              <a:t>email tên miền na ná, chiếm hộp thư NCC, giả giọng/video lãnh đạo</a:t>
            </a:r>
          </a:p>
          <a:p>
            <a:pPr algn="l">
              <a:spcAft>
                <a:spcPts val="900"/>
              </a:spcAft>
            </a:pPr>
            <a:r>
              <a:rPr sz="1500" b="0" i="0">
                <a:solidFill>
                  <a:srgbClr val="D7263D"/>
                </a:solidFill>
                <a:latin typeface="Calibri"/>
              </a:rPr>
              <a:t>•  </a:t>
            </a:r>
            <a:r>
              <a:rPr sz="1500" b="1" i="0">
                <a:solidFill>
                  <a:srgbClr val="1D2433"/>
                </a:solidFill>
                <a:latin typeface="Calibri"/>
              </a:rPr>
              <a:t>Kẻ chiếm tài khoản: </a:t>
            </a:r>
            <a:r>
              <a:rPr sz="1500" b="0" i="0">
                <a:solidFill>
                  <a:srgbClr val="1D2433"/>
                </a:solidFill>
                <a:latin typeface="Calibri"/>
              </a:rPr>
              <a:t>trang đăng nhập giả lấy mật khẩu + OTP, đánh cắp cookie</a:t>
            </a:r>
          </a:p>
          <a:p>
            <a:pPr algn="l">
              <a:spcAft>
                <a:spcPts val="900"/>
              </a:spcAft>
            </a:pPr>
            <a:r>
              <a:rPr sz="1500" b="0" i="0">
                <a:solidFill>
                  <a:srgbClr val="D7263D"/>
                </a:solidFill>
                <a:latin typeface="Calibri"/>
              </a:rPr>
              <a:t>•  </a:t>
            </a:r>
            <a:r>
              <a:rPr sz="1500" b="1" i="0">
                <a:solidFill>
                  <a:srgbClr val="1D2433"/>
                </a:solidFill>
                <a:latin typeface="Calibri"/>
              </a:rPr>
              <a:t>Mã độc máy trạm: </a:t>
            </a:r>
            <a:r>
              <a:rPr sz="1500" b="0" i="0">
                <a:solidFill>
                  <a:srgbClr val="1D2433"/>
                </a:solidFill>
                <a:latin typeface="Calibri"/>
              </a:rPr>
              <a:t>tráo số tiền / STK hiển thị trên trình duyệt</a:t>
            </a:r>
          </a:p>
          <a:p>
            <a:pPr algn="l">
              <a:spcAft>
                <a:spcPts val="900"/>
              </a:spcAft>
            </a:pPr>
            <a:r>
              <a:rPr sz="1500" b="0" i="0">
                <a:solidFill>
                  <a:srgbClr val="D7263D"/>
                </a:solidFill>
                <a:latin typeface="Calibri"/>
              </a:rPr>
              <a:t>•  </a:t>
            </a:r>
            <a:r>
              <a:rPr sz="1500" b="1" i="0">
                <a:solidFill>
                  <a:srgbClr val="1D2433"/>
                </a:solidFill>
                <a:latin typeface="Calibri"/>
              </a:rPr>
              <a:t>Nội gián: </a:t>
            </a:r>
            <a:r>
              <a:rPr sz="1500" b="0" i="0">
                <a:solidFill>
                  <a:srgbClr val="1D2433"/>
                </a:solidFill>
                <a:latin typeface="Calibri"/>
              </a:rPr>
              <a:t>tự lập – tự duyệt, sửa CSDL, xoá nhật ký</a:t>
            </a:r>
          </a:p>
          <a:p>
            <a:pPr algn="l">
              <a:spcAft>
                <a:spcPts val="900"/>
              </a:spcAft>
            </a:pPr>
            <a:r>
              <a:rPr sz="1500" b="0" i="0">
                <a:solidFill>
                  <a:srgbClr val="D7263D"/>
                </a:solidFill>
                <a:latin typeface="Calibri"/>
              </a:rPr>
              <a:t>•  </a:t>
            </a:r>
            <a:r>
              <a:rPr sz="1500" b="1" i="0">
                <a:solidFill>
                  <a:srgbClr val="1D2433"/>
                </a:solidFill>
                <a:latin typeface="Calibri"/>
              </a:rPr>
              <a:t>Kẻ trộm thiết bị: </a:t>
            </a:r>
            <a:r>
              <a:rPr sz="1500" b="0" i="0">
                <a:solidFill>
                  <a:srgbClr val="1D2433"/>
                </a:solidFill>
                <a:latin typeface="Calibri"/>
              </a:rPr>
              <a:t>lấy điện thoại của người duyệt</a:t>
            </a:r>
          </a:p>
        </p:txBody>
      </p:sp>
      <p:sp>
        <p:nvSpPr>
          <p:cNvPr id="19" name="TextBox 18"/>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20" name="TextBox 19"/>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Tài sản cần bảo vệ và rủi ro chính</a:t>
            </a:r>
          </a:p>
        </p:txBody>
      </p:sp>
      <p:pic>
        <p:nvPicPr>
          <p:cNvPr id="3" name="Picture 2" descr="05_ma_tran_rui_ro.png"/>
          <p:cNvPicPr>
            <a:picLocks noChangeAspect="1"/>
          </p:cNvPicPr>
          <p:nvPr/>
        </p:nvPicPr>
        <p:blipFill>
          <a:blip r:embed="rId2"/>
          <a:stretch>
            <a:fillRect/>
          </a:stretch>
        </p:blipFill>
        <p:spPr>
          <a:xfrm>
            <a:off x="1509719" y="1097280"/>
            <a:ext cx="9142080" cy="4069080"/>
          </a:xfrm>
          <a:prstGeom prst="rect">
            <a:avLst/>
          </a:prstGeom>
        </p:spPr>
      </p:pic>
      <p:sp>
        <p:nvSpPr>
          <p:cNvPr id="4" name="TextBox 3"/>
          <p:cNvSpPr txBox="1"/>
          <p:nvPr/>
        </p:nvSpPr>
        <p:spPr>
          <a:xfrm>
            <a:off x="548640" y="5257800"/>
            <a:ext cx="1463040" cy="365760"/>
          </a:xfrm>
          <a:prstGeom prst="rect">
            <a:avLst/>
          </a:prstGeom>
          <a:noFill/>
        </p:spPr>
        <p:txBody>
          <a:bodyPr wrap="square" anchor="t" lIns="45720" rIns="45720">
            <a:spAutoFit/>
          </a:bodyPr>
          <a:lstStyle/>
          <a:p>
            <a:pPr algn="l">
              <a:spcAft>
                <a:spcPts val="600"/>
              </a:spcAft>
            </a:pPr>
            <a:r>
              <a:rPr sz="1600" b="1" i="0">
                <a:solidFill>
                  <a:srgbClr val="13233A"/>
                </a:solidFill>
                <a:latin typeface="Cambria"/>
              </a:rPr>
              <a:t>Tài sản:</a:t>
            </a:r>
          </a:p>
        </p:txBody>
      </p:sp>
      <p:sp>
        <p:nvSpPr>
          <p:cNvPr id="5" name="Rounded Rectangle 4"/>
          <p:cNvSpPr/>
          <p:nvPr/>
        </p:nvSpPr>
        <p:spPr>
          <a:xfrm>
            <a:off x="1828800" y="525780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38528" y="525780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Tiền trong tài khoản doanh nghiệp</a:t>
            </a:r>
          </a:p>
        </p:txBody>
      </p:sp>
      <p:sp>
        <p:nvSpPr>
          <p:cNvPr id="7" name="Rounded Rectangle 6"/>
          <p:cNvSpPr/>
          <p:nvPr/>
        </p:nvSpPr>
        <p:spPr>
          <a:xfrm>
            <a:off x="5120640" y="525780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30368" y="525780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Sổ đăng ký nhà cung cấp (STK, SĐT đã xác minh)</a:t>
            </a:r>
          </a:p>
        </p:txBody>
      </p:sp>
      <p:sp>
        <p:nvSpPr>
          <p:cNvPr id="9" name="Rounded Rectangle 8"/>
          <p:cNvSpPr/>
          <p:nvPr/>
        </p:nvSpPr>
        <p:spPr>
          <a:xfrm>
            <a:off x="8412480" y="525780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22207" y="525780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Nội dung lệnh: người nhận, STK, số tiền</a:t>
            </a:r>
          </a:p>
        </p:txBody>
      </p:sp>
      <p:sp>
        <p:nvSpPr>
          <p:cNvPr id="11" name="Rounded Rectangle 10"/>
          <p:cNvSpPr/>
          <p:nvPr/>
        </p:nvSpPr>
        <p:spPr>
          <a:xfrm>
            <a:off x="1828800" y="576072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8528" y="576072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Mật khẩu, bí mật OTP, khoá riêng thiết bị</a:t>
            </a:r>
          </a:p>
        </p:txBody>
      </p:sp>
      <p:sp>
        <p:nvSpPr>
          <p:cNvPr id="13" name="Rounded Rectangle 12"/>
          <p:cNvSpPr/>
          <p:nvPr/>
        </p:nvSpPr>
        <p:spPr>
          <a:xfrm>
            <a:off x="5120640" y="576072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8" y="576072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Khoá HMAC máy chủ, phiên đăng nhập</a:t>
            </a:r>
          </a:p>
        </p:txBody>
      </p:sp>
      <p:sp>
        <p:nvSpPr>
          <p:cNvPr id="15" name="Rounded Rectangle 14"/>
          <p:cNvSpPr/>
          <p:nvPr/>
        </p:nvSpPr>
        <p:spPr>
          <a:xfrm>
            <a:off x="8412480" y="5760720"/>
            <a:ext cx="3154680" cy="411480"/>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7" y="5760720"/>
            <a:ext cx="2971800" cy="411480"/>
          </a:xfrm>
          <a:prstGeom prst="rect">
            <a:avLst/>
          </a:prstGeom>
          <a:noFill/>
        </p:spPr>
        <p:txBody>
          <a:bodyPr wrap="square" anchor="ctr" lIns="45720" rIns="45720">
            <a:spAutoFit/>
          </a:bodyPr>
          <a:lstStyle/>
          <a:p>
            <a:pPr algn="l">
              <a:spcAft>
                <a:spcPts val="600"/>
              </a:spcAft>
            </a:pPr>
            <a:r>
              <a:rPr sz="1200" b="0" i="0">
                <a:solidFill>
                  <a:srgbClr val="1D2433"/>
                </a:solidFill>
                <a:latin typeface="Calibri"/>
              </a:rPr>
              <a:t>Danh bạ nội bộ, nhật ký kiểm toán</a:t>
            </a:r>
          </a:p>
        </p:txBody>
      </p:sp>
      <p:sp>
        <p:nvSpPr>
          <p:cNvPr id="17" name="TextBox 16"/>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8" name="TextBox 17"/>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233A"/>
        </a:solidFill>
        <a:effectLst/>
      </p:bgPr>
    </p:bg>
    <p:spTree>
      <p:nvGrpSpPr>
        <p:cNvPr id="1" name=""/>
        <p:cNvGrpSpPr/>
        <p:nvPr/>
      </p:nvGrpSpPr>
      <p:grpSpPr/>
      <p:sp>
        <p:nvSpPr>
          <p:cNvPr id="2" name="TextBox 1"/>
          <p:cNvSpPr txBox="1"/>
          <p:nvPr/>
        </p:nvSpPr>
        <p:spPr>
          <a:xfrm>
            <a:off x="548640" y="457200"/>
            <a:ext cx="11064240" cy="914400"/>
          </a:xfrm>
          <a:prstGeom prst="rect">
            <a:avLst/>
          </a:prstGeom>
          <a:noFill/>
        </p:spPr>
        <p:txBody>
          <a:bodyPr wrap="square" anchor="t" lIns="45720" rIns="45720">
            <a:spAutoFit/>
          </a:bodyPr>
          <a:lstStyle/>
          <a:p>
            <a:pPr algn="l">
              <a:spcAft>
                <a:spcPts val="600"/>
              </a:spcAft>
            </a:pPr>
            <a:r>
              <a:rPr sz="3000" b="1" i="0">
                <a:solidFill>
                  <a:srgbClr val="FFFFFF"/>
                </a:solidFill>
                <a:latin typeface="Cambria"/>
              </a:rPr>
              <a:t>Không cố phát hiện deepfake – làm cho deepfake vô dụng</a:t>
            </a:r>
          </a:p>
        </p:txBody>
      </p:sp>
      <p:sp>
        <p:nvSpPr>
          <p:cNvPr id="3" name="TextBox 2"/>
          <p:cNvSpPr txBox="1"/>
          <p:nvPr/>
        </p:nvSpPr>
        <p:spPr>
          <a:xfrm>
            <a:off x="548640" y="1325880"/>
            <a:ext cx="11064240" cy="457200"/>
          </a:xfrm>
          <a:prstGeom prst="rect">
            <a:avLst/>
          </a:prstGeom>
          <a:noFill/>
        </p:spPr>
        <p:txBody>
          <a:bodyPr wrap="square" anchor="t" lIns="45720" rIns="45720">
            <a:spAutoFit/>
          </a:bodyPr>
          <a:lstStyle/>
          <a:p>
            <a:pPr algn="l">
              <a:spcAft>
                <a:spcPts val="600"/>
              </a:spcAft>
            </a:pPr>
            <a:r>
              <a:rPr sz="1800" b="0" i="0">
                <a:solidFill>
                  <a:srgbClr val="C8D3E3"/>
                </a:solidFill>
                <a:latin typeface="Calibri"/>
              </a:rPr>
              <a:t>Mọi thông tin từ bên ngoài chỉ là lời khẳng định chưa được xác minh</a:t>
            </a:r>
          </a:p>
        </p:txBody>
      </p:sp>
      <p:sp>
        <p:nvSpPr>
          <p:cNvPr id="4" name="Rounded Rectangle 3"/>
          <p:cNvSpPr/>
          <p:nvPr/>
        </p:nvSpPr>
        <p:spPr>
          <a:xfrm>
            <a:off x="548640" y="2103120"/>
            <a:ext cx="5394960" cy="3931920"/>
          </a:xfrm>
          <a:prstGeom prst="roundRect">
            <a:avLst>
              <a:gd name="adj" fmla="val 5000"/>
            </a:avLst>
          </a:prstGeom>
          <a:solidFill>
            <a:srgbClr val="1C3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2331720"/>
            <a:ext cx="594360" cy="5943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1645919" y="2377440"/>
            <a:ext cx="4114800" cy="502920"/>
          </a:xfrm>
          <a:prstGeom prst="rect">
            <a:avLst/>
          </a:prstGeom>
          <a:noFill/>
        </p:spPr>
        <p:txBody>
          <a:bodyPr wrap="square" anchor="ctr" lIns="45720" rIns="45720">
            <a:spAutoFit/>
          </a:bodyPr>
          <a:lstStyle/>
          <a:p>
            <a:pPr algn="l">
              <a:spcAft>
                <a:spcPts val="600"/>
              </a:spcAft>
            </a:pPr>
            <a:r>
              <a:rPr sz="2000" b="1" i="0">
                <a:solidFill>
                  <a:srgbClr val="FFFFFF"/>
                </a:solidFill>
                <a:latin typeface="Cambria"/>
              </a:rPr>
              <a:t>HỆ THỐNG TIN</a:t>
            </a:r>
          </a:p>
        </p:txBody>
      </p:sp>
      <p:sp>
        <p:nvSpPr>
          <p:cNvPr id="7" name="TextBox 6"/>
          <p:cNvSpPr txBox="1"/>
          <p:nvPr/>
        </p:nvSpPr>
        <p:spPr>
          <a:xfrm>
            <a:off x="868680" y="3154680"/>
            <a:ext cx="4846320" cy="2743200"/>
          </a:xfrm>
          <a:prstGeom prst="rect">
            <a:avLst/>
          </a:prstGeom>
          <a:noFill/>
        </p:spPr>
        <p:txBody>
          <a:bodyPr wrap="square" anchor="t" lIns="45720" rIns="45720">
            <a:spAutoFit/>
          </a:bodyPr>
          <a:lstStyle/>
          <a:p>
            <a:pPr algn="l">
              <a:spcAft>
                <a:spcPts val="1200"/>
              </a:spcAft>
            </a:pPr>
            <a:r>
              <a:rPr sz="1600" b="0" i="0">
                <a:solidFill>
                  <a:srgbClr val="D7263D"/>
                </a:solidFill>
                <a:latin typeface="Calibri"/>
              </a:rPr>
              <a:t>•  </a:t>
            </a:r>
            <a:r>
              <a:rPr sz="1600" b="0" i="0">
                <a:solidFill>
                  <a:srgbClr val="FFFFFF"/>
                </a:solidFill>
                <a:latin typeface="Calibri"/>
              </a:rPr>
              <a:t>Chữ ký Ed25519 từ thiết bị đã đăng ký, khớp đúng nội dung lệnh</a:t>
            </a:r>
          </a:p>
          <a:p>
            <a:pPr algn="l">
              <a:spcAft>
                <a:spcPts val="1200"/>
              </a:spcAft>
            </a:pPr>
            <a:r>
              <a:rPr sz="1600" b="0" i="0">
                <a:solidFill>
                  <a:srgbClr val="D7263D"/>
                </a:solidFill>
                <a:latin typeface="Calibri"/>
              </a:rPr>
              <a:t>•  </a:t>
            </a:r>
            <a:r>
              <a:rPr sz="1600" b="0" i="0">
                <a:solidFill>
                  <a:srgbClr val="FFFFFF"/>
                </a:solidFill>
                <a:latin typeface="Calibri"/>
              </a:rPr>
              <a:t>Sổ đăng ký NCC &amp; danh bạ nội bộ (lập khi ký hợp đồng / nhận việc)</a:t>
            </a:r>
          </a:p>
          <a:p>
            <a:pPr algn="l">
              <a:spcAft>
                <a:spcPts val="1200"/>
              </a:spcAft>
            </a:pPr>
            <a:r>
              <a:rPr sz="1600" b="0" i="0">
                <a:solidFill>
                  <a:srgbClr val="D7263D"/>
                </a:solidFill>
                <a:latin typeface="Calibri"/>
              </a:rPr>
              <a:t>•  </a:t>
            </a:r>
            <a:r>
              <a:rPr sz="1600" b="0" i="0">
                <a:solidFill>
                  <a:srgbClr val="FFFFFF"/>
                </a:solidFill>
                <a:latin typeface="Calibri"/>
              </a:rPr>
              <a:t>Kết quả gọi lại tới số lấy từ sổ đăng ký</a:t>
            </a:r>
          </a:p>
          <a:p>
            <a:pPr algn="l">
              <a:spcAft>
                <a:spcPts val="1200"/>
              </a:spcAft>
            </a:pPr>
            <a:r>
              <a:rPr sz="1600" b="0" i="0">
                <a:solidFill>
                  <a:srgbClr val="D7263D"/>
                </a:solidFill>
                <a:latin typeface="Calibri"/>
              </a:rPr>
              <a:t>•  </a:t>
            </a:r>
            <a:r>
              <a:rPr sz="1600" b="0" i="0">
                <a:solidFill>
                  <a:srgbClr val="FFFFFF"/>
                </a:solidFill>
                <a:latin typeface="Calibri"/>
              </a:rPr>
              <a:t>Dữ liệu lệnh – sau khi kiểm tra lại HMAC và chữ ký</a:t>
            </a:r>
          </a:p>
        </p:txBody>
      </p:sp>
      <p:sp>
        <p:nvSpPr>
          <p:cNvPr id="8" name="Rounded Rectangle 7"/>
          <p:cNvSpPr/>
          <p:nvPr/>
        </p:nvSpPr>
        <p:spPr>
          <a:xfrm>
            <a:off x="6217920" y="2103120"/>
            <a:ext cx="5394960" cy="3931920"/>
          </a:xfrm>
          <a:prstGeom prst="roundRect">
            <a:avLst>
              <a:gd name="adj" fmla="val 5000"/>
            </a:avLst>
          </a:prstGeom>
          <a:solidFill>
            <a:srgbClr val="3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59" y="2331720"/>
            <a:ext cx="594360" cy="5943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7315200" y="2377440"/>
            <a:ext cx="4114800" cy="502920"/>
          </a:xfrm>
          <a:prstGeom prst="rect">
            <a:avLst/>
          </a:prstGeom>
          <a:noFill/>
        </p:spPr>
        <p:txBody>
          <a:bodyPr wrap="square" anchor="ctr" lIns="45720" rIns="45720">
            <a:spAutoFit/>
          </a:bodyPr>
          <a:lstStyle/>
          <a:p>
            <a:pPr algn="l">
              <a:spcAft>
                <a:spcPts val="600"/>
              </a:spcAft>
            </a:pPr>
            <a:r>
              <a:rPr sz="2000" b="1" i="0">
                <a:solidFill>
                  <a:srgbClr val="FFFFFF"/>
                </a:solidFill>
                <a:latin typeface="Cambria"/>
              </a:rPr>
              <a:t>HỆ THỐNG KHÔNG TIN</a:t>
            </a:r>
          </a:p>
        </p:txBody>
      </p:sp>
      <p:sp>
        <p:nvSpPr>
          <p:cNvPr id="11" name="TextBox 10"/>
          <p:cNvSpPr txBox="1"/>
          <p:nvPr/>
        </p:nvSpPr>
        <p:spPr>
          <a:xfrm>
            <a:off x="6537959" y="3154680"/>
            <a:ext cx="4846320" cy="2743200"/>
          </a:xfrm>
          <a:prstGeom prst="rect">
            <a:avLst/>
          </a:prstGeom>
          <a:noFill/>
        </p:spPr>
        <p:txBody>
          <a:bodyPr wrap="square" anchor="t" lIns="45720" rIns="45720">
            <a:spAutoFit/>
          </a:bodyPr>
          <a:lstStyle/>
          <a:p>
            <a:pPr algn="l">
              <a:spcAft>
                <a:spcPts val="1200"/>
              </a:spcAft>
            </a:pPr>
            <a:r>
              <a:rPr sz="1600" b="0" i="0">
                <a:solidFill>
                  <a:srgbClr val="D7263D"/>
                </a:solidFill>
                <a:latin typeface="Calibri"/>
              </a:rPr>
              <a:t>•  </a:t>
            </a:r>
            <a:r>
              <a:rPr sz="1600" b="0" i="0">
                <a:solidFill>
                  <a:srgbClr val="FFFFFF"/>
                </a:solidFill>
                <a:latin typeface="Calibri"/>
              </a:rPr>
              <a:t>Giọng nói, khuôn mặt trong cuộc gọi thoại / video</a:t>
            </a:r>
          </a:p>
          <a:p>
            <a:pPr algn="l">
              <a:spcAft>
                <a:spcPts val="1200"/>
              </a:spcAft>
            </a:pPr>
            <a:r>
              <a:rPr sz="1600" b="0" i="0">
                <a:solidFill>
                  <a:srgbClr val="D7263D"/>
                </a:solidFill>
                <a:latin typeface="Calibri"/>
              </a:rPr>
              <a:t>•  </a:t>
            </a:r>
            <a:r>
              <a:rPr sz="1600" b="0" i="0">
                <a:solidFill>
                  <a:srgbClr val="FFFFFF"/>
                </a:solidFill>
                <a:latin typeface="Calibri"/>
              </a:rPr>
              <a:t>Email, tin nhắn, văn bản scan, hoá đơn ảnh</a:t>
            </a:r>
          </a:p>
          <a:p>
            <a:pPr algn="l">
              <a:spcAft>
                <a:spcPts val="1200"/>
              </a:spcAft>
            </a:pPr>
            <a:r>
              <a:rPr sz="1600" b="0" i="0">
                <a:solidFill>
                  <a:srgbClr val="D7263D"/>
                </a:solidFill>
                <a:latin typeface="Calibri"/>
              </a:rPr>
              <a:t>•  </a:t>
            </a:r>
            <a:r>
              <a:rPr sz="1600" b="0" i="0">
                <a:solidFill>
                  <a:srgbClr val="FFFFFF"/>
                </a:solidFill>
                <a:latin typeface="Calibri"/>
              </a:rPr>
              <a:t>STK / số điện thoại do người yêu cầu cung cấp</a:t>
            </a:r>
          </a:p>
          <a:p>
            <a:pPr algn="l">
              <a:spcAft>
                <a:spcPts val="1200"/>
              </a:spcAft>
            </a:pPr>
            <a:r>
              <a:rPr sz="1600" b="0" i="0">
                <a:solidFill>
                  <a:srgbClr val="D7263D"/>
                </a:solidFill>
                <a:latin typeface="Calibri"/>
              </a:rPr>
              <a:t>•  </a:t>
            </a:r>
            <a:r>
              <a:rPr sz="1600" b="0" i="0">
                <a:solidFill>
                  <a:srgbClr val="FFFFFF"/>
                </a:solidFill>
                <a:latin typeface="Calibri"/>
              </a:rPr>
              <a:t>Lời tự xưng “tôi là Giám đốc”, dữ liệu trình duyệt gửi lên</a:t>
            </a:r>
          </a:p>
        </p:txBody>
      </p:sp>
      <p:sp>
        <p:nvSpPr>
          <p:cNvPr id="12" name="TextBox 11"/>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8A9BB5"/>
                </a:solidFill>
                <a:latin typeface="Calibri"/>
              </a:rPr>
              <a:t>SafePay Guard · Đồ án Bảo mật mạng máy tính và hệ thống</a:t>
            </a:r>
          </a:p>
        </p:txBody>
      </p:sp>
      <p:sp>
        <p:nvSpPr>
          <p:cNvPr id="13" name="TextBox 12"/>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8A9BB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Kiến trúc và ranh giới tin cậy</a:t>
            </a:r>
          </a:p>
        </p:txBody>
      </p:sp>
      <p:pic>
        <p:nvPicPr>
          <p:cNvPr id="3" name="Picture 2" descr="01_kien_truc_he_thong.png"/>
          <p:cNvPicPr>
            <a:picLocks noChangeAspect="1"/>
          </p:cNvPicPr>
          <p:nvPr/>
        </p:nvPicPr>
        <p:blipFill>
          <a:blip r:embed="rId2"/>
          <a:stretch>
            <a:fillRect/>
          </a:stretch>
        </p:blipFill>
        <p:spPr>
          <a:xfrm>
            <a:off x="1796594" y="1143000"/>
            <a:ext cx="8568331" cy="5166360"/>
          </a:xfrm>
          <a:prstGeom prst="rect">
            <a:avLst/>
          </a:prstGeom>
        </p:spPr>
      </p:pic>
      <p:sp>
        <p:nvSpPr>
          <p:cNvPr id="4" name="TextBox 3"/>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5" name="TextBox 4"/>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Luồng tạo – duyệt – thực thi một lệnh</a:t>
            </a:r>
          </a:p>
        </p:txBody>
      </p:sp>
      <p:pic>
        <p:nvPicPr>
          <p:cNvPr id="3" name="Picture 2" descr="02_luong_phe_duyet_lenh.png"/>
          <p:cNvPicPr>
            <a:picLocks noChangeAspect="1"/>
          </p:cNvPicPr>
          <p:nvPr/>
        </p:nvPicPr>
        <p:blipFill>
          <a:blip r:embed="rId2"/>
          <a:stretch>
            <a:fillRect/>
          </a:stretch>
        </p:blipFill>
        <p:spPr>
          <a:xfrm>
            <a:off x="365759" y="1195573"/>
            <a:ext cx="7223760" cy="5061213"/>
          </a:xfrm>
          <a:prstGeom prst="rect">
            <a:avLst/>
          </a:prstGeom>
        </p:spPr>
      </p:pic>
      <p:sp>
        <p:nvSpPr>
          <p:cNvPr id="4" name="Rounded Rectangle 3"/>
          <p:cNvSpPr/>
          <p:nvPr/>
        </p:nvSpPr>
        <p:spPr>
          <a:xfrm>
            <a:off x="7863840" y="1371600"/>
            <a:ext cx="3794760" cy="14173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046720" y="1554480"/>
            <a:ext cx="457200" cy="457200"/>
          </a:xfrm>
          <a:prstGeom prst="ellipse">
            <a:avLst/>
          </a:prstGeom>
          <a:solidFill>
            <a:srgbClr val="223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8641080" y="1508760"/>
            <a:ext cx="2926080" cy="457200"/>
          </a:xfrm>
          <a:prstGeom prst="rect">
            <a:avLst/>
          </a:prstGeom>
          <a:noFill/>
        </p:spPr>
        <p:txBody>
          <a:bodyPr wrap="square" anchor="ctr" lIns="45720" rIns="45720">
            <a:spAutoFit/>
          </a:bodyPr>
          <a:lstStyle/>
          <a:p>
            <a:pPr algn="l">
              <a:spcAft>
                <a:spcPts val="600"/>
              </a:spcAft>
            </a:pPr>
            <a:r>
              <a:rPr sz="1600" b="1" i="0">
                <a:solidFill>
                  <a:srgbClr val="1D2433"/>
                </a:solidFill>
                <a:latin typeface="Cambria"/>
              </a:rPr>
              <a:t>STK lấy từ sổ đăng ký</a:t>
            </a:r>
          </a:p>
        </p:txBody>
      </p:sp>
      <p:sp>
        <p:nvSpPr>
          <p:cNvPr id="7" name="TextBox 6"/>
          <p:cNvSpPr txBox="1"/>
          <p:nvPr/>
        </p:nvSpPr>
        <p:spPr>
          <a:xfrm>
            <a:off x="8046720" y="2057400"/>
            <a:ext cx="3520440" cy="731520"/>
          </a:xfrm>
          <a:prstGeom prst="rect">
            <a:avLst/>
          </a:prstGeom>
          <a:noFill/>
        </p:spPr>
        <p:txBody>
          <a:bodyPr wrap="square" anchor="t" lIns="45720" rIns="45720">
            <a:spAutoFit/>
          </a:bodyPr>
          <a:lstStyle/>
          <a:p>
            <a:pPr algn="l">
              <a:spcAft>
                <a:spcPts val="600"/>
              </a:spcAft>
            </a:pPr>
            <a:r>
              <a:rPr sz="1350" b="0" i="0">
                <a:solidFill>
                  <a:srgbClr val="5B667A"/>
                </a:solidFill>
                <a:latin typeface="Calibri"/>
              </a:rPr>
              <a:t>Không bao giờ lấy từ tin nhắn. STK lạ trong tin nhắn → chặn ngay.</a:t>
            </a:r>
          </a:p>
        </p:txBody>
      </p:sp>
      <p:sp>
        <p:nvSpPr>
          <p:cNvPr id="8" name="Rounded Rectangle 7"/>
          <p:cNvSpPr/>
          <p:nvPr/>
        </p:nvSpPr>
        <p:spPr>
          <a:xfrm>
            <a:off x="7863840" y="2971800"/>
            <a:ext cx="3794760" cy="14173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046720" y="3154680"/>
            <a:ext cx="457200" cy="457200"/>
          </a:xfrm>
          <a:prstGeom prst="ellipse">
            <a:avLst/>
          </a:prstGeom>
          <a:solidFill>
            <a:srgbClr val="C97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8641080" y="3108960"/>
            <a:ext cx="2926080" cy="457200"/>
          </a:xfrm>
          <a:prstGeom prst="rect">
            <a:avLst/>
          </a:prstGeom>
          <a:noFill/>
        </p:spPr>
        <p:txBody>
          <a:bodyPr wrap="square" anchor="ctr" lIns="45720" rIns="45720">
            <a:spAutoFit/>
          </a:bodyPr>
          <a:lstStyle/>
          <a:p>
            <a:pPr algn="l">
              <a:spcAft>
                <a:spcPts val="600"/>
              </a:spcAft>
            </a:pPr>
            <a:r>
              <a:rPr sz="1600" b="1" i="0">
                <a:solidFill>
                  <a:srgbClr val="1D2433"/>
                </a:solidFill>
                <a:latin typeface="Cambria"/>
              </a:rPr>
              <a:t>Ký trên điện thoại</a:t>
            </a:r>
          </a:p>
        </p:txBody>
      </p:sp>
      <p:sp>
        <p:nvSpPr>
          <p:cNvPr id="11" name="TextBox 10"/>
          <p:cNvSpPr txBox="1"/>
          <p:nvPr/>
        </p:nvSpPr>
        <p:spPr>
          <a:xfrm>
            <a:off x="8046720" y="3657600"/>
            <a:ext cx="3520440" cy="731520"/>
          </a:xfrm>
          <a:prstGeom prst="rect">
            <a:avLst/>
          </a:prstGeom>
          <a:noFill/>
        </p:spPr>
        <p:txBody>
          <a:bodyPr wrap="square" anchor="t" lIns="45720" rIns="45720">
            <a:spAutoFit/>
          </a:bodyPr>
          <a:lstStyle/>
          <a:p>
            <a:pPr algn="l">
              <a:spcAft>
                <a:spcPts val="600"/>
              </a:spcAft>
            </a:pPr>
            <a:r>
              <a:rPr sz="1350" b="0" i="0">
                <a:solidFill>
                  <a:srgbClr val="5B667A"/>
                </a:solidFill>
                <a:latin typeface="Calibri"/>
              </a:rPr>
              <a:t>Người duyệt thấy đúng nội dung sẽ ký; chữ ký phủ cả nonce và quyết định.</a:t>
            </a:r>
          </a:p>
        </p:txBody>
      </p:sp>
      <p:sp>
        <p:nvSpPr>
          <p:cNvPr id="12" name="Rounded Rectangle 11"/>
          <p:cNvSpPr/>
          <p:nvPr/>
        </p:nvSpPr>
        <p:spPr>
          <a:xfrm>
            <a:off x="7863840" y="4572000"/>
            <a:ext cx="3794760" cy="14173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46720" y="4754880"/>
            <a:ext cx="457200" cy="4572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8641080" y="4709160"/>
            <a:ext cx="2926080" cy="457200"/>
          </a:xfrm>
          <a:prstGeom prst="rect">
            <a:avLst/>
          </a:prstGeom>
          <a:noFill/>
        </p:spPr>
        <p:txBody>
          <a:bodyPr wrap="square" anchor="ctr" lIns="45720" rIns="45720">
            <a:spAutoFit/>
          </a:bodyPr>
          <a:lstStyle/>
          <a:p>
            <a:pPr algn="l">
              <a:spcAft>
                <a:spcPts val="600"/>
              </a:spcAft>
            </a:pPr>
            <a:r>
              <a:rPr sz="1600" b="1" i="0">
                <a:solidFill>
                  <a:srgbClr val="1D2433"/>
                </a:solidFill>
                <a:latin typeface="Cambria"/>
              </a:rPr>
              <a:t>Kiểm tra lại khi thực thi</a:t>
            </a:r>
          </a:p>
        </p:txBody>
      </p:sp>
      <p:sp>
        <p:nvSpPr>
          <p:cNvPr id="15" name="TextBox 14"/>
          <p:cNvSpPr txBox="1"/>
          <p:nvPr/>
        </p:nvSpPr>
        <p:spPr>
          <a:xfrm>
            <a:off x="8046720" y="5257800"/>
            <a:ext cx="3520440" cy="731520"/>
          </a:xfrm>
          <a:prstGeom prst="rect">
            <a:avLst/>
          </a:prstGeom>
          <a:noFill/>
        </p:spPr>
        <p:txBody>
          <a:bodyPr wrap="square" anchor="t" lIns="45720" rIns="45720">
            <a:spAutoFit/>
          </a:bodyPr>
          <a:lstStyle/>
          <a:p>
            <a:pPr algn="l">
              <a:spcAft>
                <a:spcPts val="600"/>
              </a:spcAft>
            </a:pPr>
            <a:r>
              <a:rPr sz="1350" b="0" i="0">
                <a:solidFill>
                  <a:srgbClr val="5B667A"/>
                </a:solidFill>
                <a:latin typeface="Calibri"/>
              </a:rPr>
              <a:t>Không tin trạng thái APPROVED trong CSDL: HMAC, mọi chữ ký, thiết bị, STK.</a:t>
            </a:r>
          </a:p>
        </p:txBody>
      </p:sp>
      <p:sp>
        <p:nvSpPr>
          <p:cNvPr id="16" name="TextBox 15"/>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7" name="TextBox 16"/>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Sáu cơ chế bảo vệ chính</a:t>
            </a:r>
          </a:p>
        </p:txBody>
      </p:sp>
      <p:sp>
        <p:nvSpPr>
          <p:cNvPr id="3" name="Rounded Rectangle 2"/>
          <p:cNvSpPr/>
          <p:nvPr/>
        </p:nvSpPr>
        <p:spPr>
          <a:xfrm>
            <a:off x="548640" y="13258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554480"/>
            <a:ext cx="502920" cy="502920"/>
          </a:xfrm>
          <a:prstGeom prst="ellipse">
            <a:avLst/>
          </a:prstGeom>
          <a:solidFill>
            <a:srgbClr val="223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5" name="TextBox 4"/>
          <p:cNvSpPr txBox="1"/>
          <p:nvPr/>
        </p:nvSpPr>
        <p:spPr>
          <a:xfrm>
            <a:off x="1417319" y="15270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MFA gắn thiết bị</a:t>
            </a:r>
          </a:p>
        </p:txBody>
      </p:sp>
      <p:sp>
        <p:nvSpPr>
          <p:cNvPr id="6" name="TextBox 5"/>
          <p:cNvSpPr txBox="1"/>
          <p:nvPr/>
        </p:nvSpPr>
        <p:spPr>
          <a:xfrm>
            <a:off x="777240" y="21945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Argon2id + TOTP chống phát lại + thiết bị ký challenge. Thiết bị mới cần admin duyệt.</a:t>
            </a:r>
          </a:p>
        </p:txBody>
      </p:sp>
      <p:sp>
        <p:nvSpPr>
          <p:cNvPr id="7" name="Rounded Rectangle 6"/>
          <p:cNvSpPr/>
          <p:nvPr/>
        </p:nvSpPr>
        <p:spPr>
          <a:xfrm>
            <a:off x="4297679" y="13258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26279" y="1554480"/>
            <a:ext cx="502920" cy="502920"/>
          </a:xfrm>
          <a:prstGeom prst="ellipse">
            <a:avLst/>
          </a:prstGeom>
          <a:solidFill>
            <a:srgbClr val="223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5166359" y="15270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Chữ ký giao dịch</a:t>
            </a:r>
          </a:p>
        </p:txBody>
      </p:sp>
      <p:sp>
        <p:nvSpPr>
          <p:cNvPr id="10" name="TextBox 9"/>
          <p:cNvSpPr txBox="1"/>
          <p:nvPr/>
        </p:nvSpPr>
        <p:spPr>
          <a:xfrm>
            <a:off x="4526279" y="21945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Ed25519 trên JSON chuẩn hoá: nội dung, nonce, hạn, quyết định. Không ký được → không duyệt được.</a:t>
            </a:r>
          </a:p>
        </p:txBody>
      </p:sp>
      <p:sp>
        <p:nvSpPr>
          <p:cNvPr id="11" name="Rounded Rectangle 10"/>
          <p:cNvSpPr/>
          <p:nvPr/>
        </p:nvSpPr>
        <p:spPr>
          <a:xfrm>
            <a:off x="8046719" y="13258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75319" y="1554480"/>
            <a:ext cx="502920" cy="502920"/>
          </a:xfrm>
          <a:prstGeom prst="ellipse">
            <a:avLst/>
          </a:prstGeom>
          <a:solidFill>
            <a:srgbClr val="C97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8915399" y="15270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Phê duyệt theo rủi ro</a:t>
            </a:r>
          </a:p>
        </p:txBody>
      </p:sp>
      <p:sp>
        <p:nvSpPr>
          <p:cNvPr id="14" name="TextBox 13"/>
          <p:cNvSpPr txBox="1"/>
          <p:nvPr/>
        </p:nvSpPr>
        <p:spPr>
          <a:xfrm>
            <a:off x="8275319" y="21945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 50tr: 2 người; ≥ 500tr hoặc rủi ro cao: có GĐ. Người tự xưng phải tự ký.</a:t>
            </a:r>
          </a:p>
        </p:txBody>
      </p:sp>
      <p:sp>
        <p:nvSpPr>
          <p:cNvPr id="15" name="Rounded Rectangle 14"/>
          <p:cNvSpPr/>
          <p:nvPr/>
        </p:nvSpPr>
        <p:spPr>
          <a:xfrm>
            <a:off x="548640" y="38404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4069080"/>
            <a:ext cx="502920" cy="502920"/>
          </a:xfrm>
          <a:prstGeom prst="ellipse">
            <a:avLst/>
          </a:prstGeom>
          <a:solidFill>
            <a:srgbClr val="C97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7" name="TextBox 16"/>
          <p:cNvSpPr txBox="1"/>
          <p:nvPr/>
        </p:nvSpPr>
        <p:spPr>
          <a:xfrm>
            <a:off x="1417319" y="40416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Gọi lại ngoài băng</a:t>
            </a:r>
          </a:p>
        </p:txBody>
      </p:sp>
      <p:sp>
        <p:nvSpPr>
          <p:cNvPr id="18" name="TextBox 17"/>
          <p:cNvSpPr txBox="1"/>
          <p:nvPr/>
        </p:nvSpPr>
        <p:spPr>
          <a:xfrm>
            <a:off x="777240" y="47091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Chỉ chấp nhận số trong danh bạ / sổ đăng ký. Bị phủ nhận → REJECTED + cảnh báo.</a:t>
            </a:r>
          </a:p>
        </p:txBody>
      </p:sp>
      <p:sp>
        <p:nvSpPr>
          <p:cNvPr id="19" name="Rounded Rectangle 18"/>
          <p:cNvSpPr/>
          <p:nvPr/>
        </p:nvSpPr>
        <p:spPr>
          <a:xfrm>
            <a:off x="4297679" y="38404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6279" y="4069080"/>
            <a:ext cx="502920" cy="50292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1" name="TextBox 20"/>
          <p:cNvSpPr txBox="1"/>
          <p:nvPr/>
        </p:nvSpPr>
        <p:spPr>
          <a:xfrm>
            <a:off x="5166359" y="40416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Sổ đăng ký + 48h chờ</a:t>
            </a:r>
          </a:p>
        </p:txBody>
      </p:sp>
      <p:sp>
        <p:nvSpPr>
          <p:cNvPr id="22" name="TextBox 21"/>
          <p:cNvSpPr txBox="1"/>
          <p:nvPr/>
        </p:nvSpPr>
        <p:spPr>
          <a:xfrm>
            <a:off x="4526279" y="47091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Không có ô nhập STK tự do. Đổi STK: gọi lại, ký duyệt, chờ 48h, +30 điểm 30 ngày.</a:t>
            </a:r>
          </a:p>
        </p:txBody>
      </p:sp>
      <p:sp>
        <p:nvSpPr>
          <p:cNvPr id="23" name="Rounded Rectangle 22"/>
          <p:cNvSpPr/>
          <p:nvPr/>
        </p:nvSpPr>
        <p:spPr>
          <a:xfrm>
            <a:off x="8046719" y="3840480"/>
            <a:ext cx="3520440" cy="22860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75319" y="4069080"/>
            <a:ext cx="502920" cy="50292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5" name="TextBox 24"/>
          <p:cNvSpPr txBox="1"/>
          <p:nvPr/>
        </p:nvSpPr>
        <p:spPr>
          <a:xfrm>
            <a:off x="8915399" y="4041648"/>
            <a:ext cx="246888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Toàn vẹn &amp; nhật ký</a:t>
            </a:r>
          </a:p>
        </p:txBody>
      </p:sp>
      <p:sp>
        <p:nvSpPr>
          <p:cNvPr id="26" name="TextBox 25"/>
          <p:cNvSpPr txBox="1"/>
          <p:nvPr/>
        </p:nvSpPr>
        <p:spPr>
          <a:xfrm>
            <a:off x="8275319" y="4709160"/>
            <a:ext cx="3063240" cy="1280160"/>
          </a:xfrm>
          <a:prstGeom prst="rect">
            <a:avLst/>
          </a:prstGeom>
          <a:noFill/>
        </p:spPr>
        <p:txBody>
          <a:bodyPr wrap="square" anchor="t" lIns="45720" rIns="45720">
            <a:spAutoFit/>
          </a:bodyPr>
          <a:lstStyle/>
          <a:p>
            <a:pPr algn="l">
              <a:spcAft>
                <a:spcPts val="400"/>
              </a:spcAft>
            </a:pPr>
            <a:r>
              <a:rPr sz="1400" b="0" i="0">
                <a:solidFill>
                  <a:srgbClr val="1D2433"/>
                </a:solidFill>
                <a:latin typeface="Calibri"/>
              </a:rPr>
              <a:t>HMAC trên lệnh (khoá trong HSM). Nhật ký chuỗi băm + HMAC + mốc neo bên ngoài.</a:t>
            </a:r>
          </a:p>
        </p:txBody>
      </p:sp>
      <p:sp>
        <p:nvSpPr>
          <p:cNvPr id="27" name="TextBox 26"/>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28" name="TextBox 27"/>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Chấm điểm rủi ro: đầu vào bên ngoài chỉ làm tăng điểm</a:t>
            </a:r>
          </a:p>
        </p:txBody>
      </p:sp>
      <p:graphicFrame>
        <p:nvGraphicFramePr>
          <p:cNvPr id="3" name="Table 2"/>
          <p:cNvGraphicFramePr>
            <a:graphicFrameLocks noGrp="1"/>
          </p:cNvGraphicFramePr>
          <p:nvPr/>
        </p:nvGraphicFramePr>
        <p:xfrm>
          <a:off x="548640" y="1371600"/>
          <a:ext cx="6035040" cy="3840480"/>
        </p:xfrm>
        <a:graphic>
          <a:graphicData uri="http://schemas.openxmlformats.org/drawingml/2006/table">
            <a:tbl>
              <a:tblPr firstRow="1" bandRow="1">
                <a:tableStyleId>{5C22544A-7EE6-4342-B048-85BDC9FD1C3A}</a:tableStyleId>
              </a:tblPr>
              <a:tblGrid>
                <a:gridCol w="5120640"/>
                <a:gridCol w="914400"/>
              </a:tblGrid>
              <a:tr h="548640">
                <a:tc>
                  <a:txBody>
                    <a:bodyPr/>
                    <a:lstStyle/>
                    <a:p>
                      <a:r>
                        <a:rPr sz="1400" b="1">
                          <a:solidFill>
                            <a:srgbClr val="FFFFFF"/>
                          </a:solidFill>
                          <a:latin typeface="Calibri"/>
                        </a:rPr>
                        <a:t>Luật</a:t>
                      </a:r>
                    </a:p>
                  </a:txBody>
                  <a:tcPr marL="73152" marR="73152" marT="36576" marB="36576" anchor="ctr">
                    <a:solidFill>
                      <a:srgbClr val="13233A"/>
                    </a:solidFill>
                  </a:tcPr>
                </a:tc>
                <a:tc>
                  <a:txBody>
                    <a:bodyPr/>
                    <a:lstStyle/>
                    <a:p>
                      <a:r>
                        <a:rPr sz="1400" b="1">
                          <a:solidFill>
                            <a:srgbClr val="FFFFFF"/>
                          </a:solidFill>
                          <a:latin typeface="Calibri"/>
                        </a:rPr>
                        <a:t>Điểm</a:t>
                      </a:r>
                    </a:p>
                  </a:txBody>
                  <a:tcPr marL="73152" marR="73152" marT="36576" marB="36576" anchor="ctr">
                    <a:solidFill>
                      <a:srgbClr val="13233A"/>
                    </a:solidFill>
                  </a:tcPr>
                </a:tc>
              </a:tr>
              <a:tr h="548640">
                <a:tc>
                  <a:txBody>
                    <a:bodyPr/>
                    <a:lstStyle/>
                    <a:p>
                      <a:r>
                        <a:rPr sz="1400" b="0">
                          <a:solidFill>
                            <a:srgbClr val="1D2433"/>
                          </a:solidFill>
                          <a:latin typeface="Calibri"/>
                        </a:rPr>
                        <a:t>Yêu cầu từ kênh ngoài (email, chat, ảnh, thoại, video)</a:t>
                      </a:r>
                    </a:p>
                  </a:txBody>
                  <a:tcPr marL="73152" marR="73152" marT="36576" marB="36576" anchor="ctr">
                    <a:solidFill>
                      <a:srgbClr val="FFFFFF"/>
                    </a:solidFill>
                  </a:tcPr>
                </a:tc>
                <a:tc>
                  <a:txBody>
                    <a:bodyPr/>
                    <a:lstStyle/>
                    <a:p>
                      <a:r>
                        <a:rPr sz="1400" b="0">
                          <a:solidFill>
                            <a:srgbClr val="1D2433"/>
                          </a:solidFill>
                          <a:latin typeface="Calibri"/>
                        </a:rPr>
                        <a:t>+25</a:t>
                      </a:r>
                    </a:p>
                  </a:txBody>
                  <a:tcPr marL="73152" marR="73152" marT="36576" marB="36576" anchor="ctr">
                    <a:solidFill>
                      <a:srgbClr val="FFFFFF"/>
                    </a:solidFill>
                  </a:tcPr>
                </a:tc>
              </a:tr>
              <a:tr h="548640">
                <a:tc>
                  <a:txBody>
                    <a:bodyPr/>
                    <a:lstStyle/>
                    <a:p>
                      <a:r>
                        <a:rPr sz="1400" b="0">
                          <a:solidFill>
                            <a:srgbClr val="1D2433"/>
                          </a:solidFill>
                          <a:latin typeface="Calibri"/>
                        </a:rPr>
                        <a:t>Tự xưng là lãnh đạo qua kênh ngoài</a:t>
                      </a:r>
                    </a:p>
                  </a:txBody>
                  <a:tcPr marL="73152" marR="73152" marT="36576" marB="36576" anchor="ctr">
                    <a:solidFill>
                      <a:srgbClr val="F1F4F8"/>
                    </a:solidFill>
                  </a:tcPr>
                </a:tc>
                <a:tc>
                  <a:txBody>
                    <a:bodyPr/>
                    <a:lstStyle/>
                    <a:p>
                      <a:r>
                        <a:rPr sz="1400" b="0">
                          <a:solidFill>
                            <a:srgbClr val="1D2433"/>
                          </a:solidFill>
                          <a:latin typeface="Calibri"/>
                        </a:rPr>
                        <a:t>+20</a:t>
                      </a:r>
                    </a:p>
                  </a:txBody>
                  <a:tcPr marL="73152" marR="73152" marT="36576" marB="36576" anchor="ctr">
                    <a:solidFill>
                      <a:srgbClr val="F1F4F8"/>
                    </a:solidFill>
                  </a:tcPr>
                </a:tc>
              </a:tr>
              <a:tr h="548640">
                <a:tc>
                  <a:txBody>
                    <a:bodyPr/>
                    <a:lstStyle/>
                    <a:p>
                      <a:r>
                        <a:rPr sz="1400" b="0">
                          <a:solidFill>
                            <a:srgbClr val="1D2433"/>
                          </a:solidFill>
                          <a:latin typeface="Calibri"/>
                        </a:rPr>
                        <a:t>Khẩn cấp / bí mật (“gấp”, “đừng báo ai”)</a:t>
                      </a:r>
                    </a:p>
                  </a:txBody>
                  <a:tcPr marL="73152" marR="73152" marT="36576" marB="36576" anchor="ctr">
                    <a:solidFill>
                      <a:srgbClr val="FFFFFF"/>
                    </a:solidFill>
                  </a:tcPr>
                </a:tc>
                <a:tc>
                  <a:txBody>
                    <a:bodyPr/>
                    <a:lstStyle/>
                    <a:p>
                      <a:r>
                        <a:rPr sz="1400" b="0">
                          <a:solidFill>
                            <a:srgbClr val="1D2433"/>
                          </a:solidFill>
                          <a:latin typeface="Calibri"/>
                        </a:rPr>
                        <a:t>+15</a:t>
                      </a:r>
                    </a:p>
                  </a:txBody>
                  <a:tcPr marL="73152" marR="73152" marT="36576" marB="36576" anchor="ctr">
                    <a:solidFill>
                      <a:srgbClr val="FFFFFF"/>
                    </a:solidFill>
                  </a:tcPr>
                </a:tc>
              </a:tr>
              <a:tr h="548640">
                <a:tc>
                  <a:txBody>
                    <a:bodyPr/>
                    <a:lstStyle/>
                    <a:p>
                      <a:r>
                        <a:rPr sz="1400" b="0">
                          <a:solidFill>
                            <a:srgbClr val="1D2433"/>
                          </a:solidFill>
                          <a:latin typeface="Calibri"/>
                        </a:rPr>
                        <a:t>Lần đầu trả cho NCC / số tiền &gt; 3× trung bình</a:t>
                      </a:r>
                    </a:p>
                  </a:txBody>
                  <a:tcPr marL="73152" marR="73152" marT="36576" marB="36576" anchor="ctr">
                    <a:solidFill>
                      <a:srgbClr val="F1F4F8"/>
                    </a:solidFill>
                  </a:tcPr>
                </a:tc>
                <a:tc>
                  <a:txBody>
                    <a:bodyPr/>
                    <a:lstStyle/>
                    <a:p>
                      <a:r>
                        <a:rPr sz="1400" b="0">
                          <a:solidFill>
                            <a:srgbClr val="1D2433"/>
                          </a:solidFill>
                          <a:latin typeface="Calibri"/>
                        </a:rPr>
                        <a:t>+20</a:t>
                      </a:r>
                    </a:p>
                  </a:txBody>
                  <a:tcPr marL="73152" marR="73152" marT="36576" marB="36576" anchor="ctr">
                    <a:solidFill>
                      <a:srgbClr val="F1F4F8"/>
                    </a:solidFill>
                  </a:tcPr>
                </a:tc>
              </a:tr>
              <a:tr h="548640">
                <a:tc>
                  <a:txBody>
                    <a:bodyPr/>
                    <a:lstStyle/>
                    <a:p>
                      <a:r>
                        <a:rPr sz="1400" b="0">
                          <a:solidFill>
                            <a:srgbClr val="1D2433"/>
                          </a:solidFill>
                          <a:latin typeface="Calibri"/>
                        </a:rPr>
                        <a:t>STK NCC đổi trong 30 ngày</a:t>
                      </a:r>
                    </a:p>
                  </a:txBody>
                  <a:tcPr marL="73152" marR="73152" marT="36576" marB="36576" anchor="ctr">
                    <a:solidFill>
                      <a:srgbClr val="FFFFFF"/>
                    </a:solidFill>
                  </a:tcPr>
                </a:tc>
                <a:tc>
                  <a:txBody>
                    <a:bodyPr/>
                    <a:lstStyle/>
                    <a:p>
                      <a:r>
                        <a:rPr sz="1400" b="0">
                          <a:solidFill>
                            <a:srgbClr val="1D2433"/>
                          </a:solidFill>
                          <a:latin typeface="Calibri"/>
                        </a:rPr>
                        <a:t>+30</a:t>
                      </a:r>
                    </a:p>
                  </a:txBody>
                  <a:tcPr marL="73152" marR="73152" marT="36576" marB="36576" anchor="ctr">
                    <a:solidFill>
                      <a:srgbClr val="FFFFFF"/>
                    </a:solidFill>
                  </a:tcPr>
                </a:tc>
              </a:tr>
              <a:tr h="548640">
                <a:tc>
                  <a:txBody>
                    <a:bodyPr/>
                    <a:lstStyle/>
                    <a:p>
                      <a:r>
                        <a:rPr sz="1400" b="0">
                          <a:solidFill>
                            <a:srgbClr val="1D2433"/>
                          </a:solidFill>
                          <a:latin typeface="Calibri"/>
                        </a:rPr>
                        <a:t>Ngoài giờ làm việc</a:t>
                      </a:r>
                    </a:p>
                  </a:txBody>
                  <a:tcPr marL="73152" marR="73152" marT="36576" marB="36576" anchor="ctr">
                    <a:solidFill>
                      <a:srgbClr val="F1F4F8"/>
                    </a:solidFill>
                  </a:tcPr>
                </a:tc>
                <a:tc>
                  <a:txBody>
                    <a:bodyPr/>
                    <a:lstStyle/>
                    <a:p>
                      <a:r>
                        <a:rPr sz="1400" b="0">
                          <a:solidFill>
                            <a:srgbClr val="1D2433"/>
                          </a:solidFill>
                          <a:latin typeface="Calibri"/>
                        </a:rPr>
                        <a:t>+10</a:t>
                      </a:r>
                    </a:p>
                  </a:txBody>
                  <a:tcPr marL="73152" marR="73152" marT="36576" marB="36576" anchor="ctr">
                    <a:solidFill>
                      <a:srgbClr val="F1F4F8"/>
                    </a:solidFill>
                  </a:tcPr>
                </a:tc>
              </a:tr>
            </a:tbl>
          </a:graphicData>
        </a:graphic>
      </p:graphicFrame>
      <p:sp>
        <p:nvSpPr>
          <p:cNvPr id="4" name="Rounded Rectangle 3"/>
          <p:cNvSpPr/>
          <p:nvPr/>
        </p:nvSpPr>
        <p:spPr>
          <a:xfrm>
            <a:off x="6949440" y="1371600"/>
            <a:ext cx="4663440" cy="914400"/>
          </a:xfrm>
          <a:prstGeom prst="roundRect">
            <a:avLst>
              <a:gd name="adj" fmla="val 12000"/>
            </a:avLst>
          </a:prstGeom>
          <a:solidFill>
            <a:srgbClr val="E3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78040" y="1463040"/>
            <a:ext cx="4297680" cy="365760"/>
          </a:xfrm>
          <a:prstGeom prst="rect">
            <a:avLst/>
          </a:prstGeom>
          <a:noFill/>
        </p:spPr>
        <p:txBody>
          <a:bodyPr wrap="square" anchor="t" lIns="45720" rIns="45720">
            <a:spAutoFit/>
          </a:bodyPr>
          <a:lstStyle/>
          <a:p>
            <a:pPr algn="l">
              <a:spcAft>
                <a:spcPts val="600"/>
              </a:spcAft>
            </a:pPr>
            <a:r>
              <a:rPr sz="1600" b="1" i="0">
                <a:solidFill>
                  <a:srgbClr val="148F77"/>
                </a:solidFill>
                <a:latin typeface="Calibri"/>
              </a:rPr>
              <a:t>THẤP &lt; 30</a:t>
            </a:r>
          </a:p>
        </p:txBody>
      </p:sp>
      <p:sp>
        <p:nvSpPr>
          <p:cNvPr id="6" name="TextBox 5"/>
          <p:cNvSpPr txBox="1"/>
          <p:nvPr/>
        </p:nvSpPr>
        <p:spPr>
          <a:xfrm>
            <a:off x="7178040" y="1828800"/>
            <a:ext cx="4297680" cy="365760"/>
          </a:xfrm>
          <a:prstGeom prst="rect">
            <a:avLst/>
          </a:prstGeom>
          <a:noFill/>
        </p:spPr>
        <p:txBody>
          <a:bodyPr wrap="square" anchor="t" lIns="45720" rIns="45720">
            <a:spAutoFit/>
          </a:bodyPr>
          <a:lstStyle/>
          <a:p>
            <a:pPr algn="l">
              <a:spcAft>
                <a:spcPts val="600"/>
              </a:spcAft>
            </a:pPr>
            <a:r>
              <a:rPr sz="1400" b="0" i="0">
                <a:solidFill>
                  <a:srgbClr val="1D2433"/>
                </a:solidFill>
                <a:latin typeface="Calibri"/>
              </a:rPr>
              <a:t>1 người duyệt (≥ 50 triệu: 2)</a:t>
            </a:r>
          </a:p>
        </p:txBody>
      </p:sp>
      <p:sp>
        <p:nvSpPr>
          <p:cNvPr id="7" name="Rounded Rectangle 6"/>
          <p:cNvSpPr/>
          <p:nvPr/>
        </p:nvSpPr>
        <p:spPr>
          <a:xfrm>
            <a:off x="6949440" y="2468880"/>
            <a:ext cx="4663440" cy="914400"/>
          </a:xfrm>
          <a:prstGeom prst="roundRect">
            <a:avLst>
              <a:gd name="adj" fmla="val 12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560320"/>
            <a:ext cx="4297680" cy="365760"/>
          </a:xfrm>
          <a:prstGeom prst="rect">
            <a:avLst/>
          </a:prstGeom>
          <a:noFill/>
        </p:spPr>
        <p:txBody>
          <a:bodyPr wrap="square" anchor="t" lIns="45720" rIns="45720">
            <a:spAutoFit/>
          </a:bodyPr>
          <a:lstStyle/>
          <a:p>
            <a:pPr algn="l">
              <a:spcAft>
                <a:spcPts val="600"/>
              </a:spcAft>
            </a:pPr>
            <a:r>
              <a:rPr sz="1600" b="1" i="0">
                <a:solidFill>
                  <a:srgbClr val="C97C10"/>
                </a:solidFill>
                <a:latin typeface="Calibri"/>
              </a:rPr>
              <a:t>TRUNG BÌNH 30–59</a:t>
            </a:r>
          </a:p>
        </p:txBody>
      </p:sp>
      <p:sp>
        <p:nvSpPr>
          <p:cNvPr id="9" name="TextBox 8"/>
          <p:cNvSpPr txBox="1"/>
          <p:nvPr/>
        </p:nvSpPr>
        <p:spPr>
          <a:xfrm>
            <a:off x="7178040" y="2926080"/>
            <a:ext cx="4297680" cy="365760"/>
          </a:xfrm>
          <a:prstGeom prst="rect">
            <a:avLst/>
          </a:prstGeom>
          <a:noFill/>
        </p:spPr>
        <p:txBody>
          <a:bodyPr wrap="square" anchor="t" lIns="45720" rIns="45720">
            <a:spAutoFit/>
          </a:bodyPr>
          <a:lstStyle/>
          <a:p>
            <a:pPr algn="l">
              <a:spcAft>
                <a:spcPts val="600"/>
              </a:spcAft>
            </a:pPr>
            <a:r>
              <a:rPr sz="1400" b="0" i="0">
                <a:solidFill>
                  <a:srgbClr val="1D2433"/>
                </a:solidFill>
                <a:latin typeface="Calibri"/>
              </a:rPr>
              <a:t>2 người duyệt</a:t>
            </a:r>
          </a:p>
        </p:txBody>
      </p:sp>
      <p:sp>
        <p:nvSpPr>
          <p:cNvPr id="10" name="Rounded Rectangle 9"/>
          <p:cNvSpPr/>
          <p:nvPr/>
        </p:nvSpPr>
        <p:spPr>
          <a:xfrm>
            <a:off x="6949440" y="3566160"/>
            <a:ext cx="4663440" cy="914400"/>
          </a:xfrm>
          <a:prstGeom prst="roundRect">
            <a:avLst>
              <a:gd name="adj" fmla="val 12000"/>
            </a:avLst>
          </a:prstGeom>
          <a:solidFill>
            <a:srgbClr val="FC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3657600"/>
            <a:ext cx="4297680" cy="365760"/>
          </a:xfrm>
          <a:prstGeom prst="rect">
            <a:avLst/>
          </a:prstGeom>
          <a:noFill/>
        </p:spPr>
        <p:txBody>
          <a:bodyPr wrap="square" anchor="t" lIns="45720" rIns="45720">
            <a:spAutoFit/>
          </a:bodyPr>
          <a:lstStyle/>
          <a:p>
            <a:pPr algn="l">
              <a:spcAft>
                <a:spcPts val="600"/>
              </a:spcAft>
            </a:pPr>
            <a:r>
              <a:rPr sz="1600" b="1" i="0">
                <a:solidFill>
                  <a:srgbClr val="D7263D"/>
                </a:solidFill>
                <a:latin typeface="Calibri"/>
              </a:rPr>
              <a:t>CAO ≥ 60</a:t>
            </a:r>
          </a:p>
        </p:txBody>
      </p:sp>
      <p:sp>
        <p:nvSpPr>
          <p:cNvPr id="12" name="TextBox 11"/>
          <p:cNvSpPr txBox="1"/>
          <p:nvPr/>
        </p:nvSpPr>
        <p:spPr>
          <a:xfrm>
            <a:off x="7178040" y="4023360"/>
            <a:ext cx="4297680" cy="365760"/>
          </a:xfrm>
          <a:prstGeom prst="rect">
            <a:avLst/>
          </a:prstGeom>
          <a:noFill/>
        </p:spPr>
        <p:txBody>
          <a:bodyPr wrap="square" anchor="t" lIns="45720" rIns="45720">
            <a:spAutoFit/>
          </a:bodyPr>
          <a:lstStyle/>
          <a:p>
            <a:pPr algn="l">
              <a:spcAft>
                <a:spcPts val="600"/>
              </a:spcAft>
            </a:pPr>
            <a:r>
              <a:rPr sz="1400" b="0" i="0">
                <a:solidFill>
                  <a:srgbClr val="1D2433"/>
                </a:solidFill>
                <a:latin typeface="Calibri"/>
              </a:rPr>
              <a:t>2 người + Giám đốc + gọi lại</a:t>
            </a:r>
          </a:p>
        </p:txBody>
      </p:sp>
      <p:sp>
        <p:nvSpPr>
          <p:cNvPr id="13" name="Rounded Rectangle 12"/>
          <p:cNvSpPr/>
          <p:nvPr/>
        </p:nvSpPr>
        <p:spPr>
          <a:xfrm>
            <a:off x="6949440" y="4663440"/>
            <a:ext cx="4663440" cy="914400"/>
          </a:xfrm>
          <a:prstGeom prst="roundRect">
            <a:avLst>
              <a:gd name="adj" fmla="val 12000"/>
            </a:avLst>
          </a:prstGeom>
          <a:solidFill>
            <a:srgbClr val="FC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4754879"/>
            <a:ext cx="4297680" cy="365760"/>
          </a:xfrm>
          <a:prstGeom prst="rect">
            <a:avLst/>
          </a:prstGeom>
          <a:noFill/>
        </p:spPr>
        <p:txBody>
          <a:bodyPr wrap="square" anchor="t" lIns="45720" rIns="45720">
            <a:spAutoFit/>
          </a:bodyPr>
          <a:lstStyle/>
          <a:p>
            <a:pPr algn="l">
              <a:spcAft>
                <a:spcPts val="600"/>
              </a:spcAft>
            </a:pPr>
            <a:r>
              <a:rPr sz="1600" b="1" i="0">
                <a:solidFill>
                  <a:srgbClr val="D7263D"/>
                </a:solidFill>
                <a:latin typeface="Calibri"/>
              </a:rPr>
              <a:t>CHẶN</a:t>
            </a:r>
          </a:p>
        </p:txBody>
      </p:sp>
      <p:sp>
        <p:nvSpPr>
          <p:cNvPr id="15" name="TextBox 14"/>
          <p:cNvSpPr txBox="1"/>
          <p:nvPr/>
        </p:nvSpPr>
        <p:spPr>
          <a:xfrm>
            <a:off x="7178040" y="5120640"/>
            <a:ext cx="4297680" cy="365760"/>
          </a:xfrm>
          <a:prstGeom prst="rect">
            <a:avLst/>
          </a:prstGeom>
          <a:noFill/>
        </p:spPr>
        <p:txBody>
          <a:bodyPr wrap="square" anchor="t" lIns="45720" rIns="45720">
            <a:spAutoFit/>
          </a:bodyPr>
          <a:lstStyle/>
          <a:p>
            <a:pPr algn="l">
              <a:spcAft>
                <a:spcPts val="600"/>
              </a:spcAft>
            </a:pPr>
            <a:r>
              <a:rPr sz="1400" b="0" i="0">
                <a:solidFill>
                  <a:srgbClr val="1D2433"/>
                </a:solidFill>
                <a:latin typeface="Calibri"/>
              </a:rPr>
              <a:t>STK lạ trong tin nhắn · NCC trong 48h chờ</a:t>
            </a:r>
          </a:p>
        </p:txBody>
      </p:sp>
      <p:sp>
        <p:nvSpPr>
          <p:cNvPr id="16" name="TextBox 15"/>
          <p:cNvSpPr txBox="1"/>
          <p:nvPr/>
        </p:nvSpPr>
        <p:spPr>
          <a:xfrm>
            <a:off x="548640" y="5715000"/>
            <a:ext cx="11064240" cy="457200"/>
          </a:xfrm>
          <a:prstGeom prst="rect">
            <a:avLst/>
          </a:prstGeom>
          <a:noFill/>
        </p:spPr>
        <p:txBody>
          <a:bodyPr wrap="square" anchor="t" lIns="45720" rIns="45720">
            <a:spAutoFit/>
          </a:bodyPr>
          <a:lstStyle/>
          <a:p>
            <a:pPr algn="l">
              <a:spcAft>
                <a:spcPts val="600"/>
              </a:spcAft>
            </a:pPr>
            <a:r>
              <a:rPr sz="1500" b="0" i="0">
                <a:solidFill>
                  <a:srgbClr val="5B667A"/>
                </a:solidFill>
                <a:latin typeface="Calibri"/>
              </a:rPr>
              <a:t>Ví dụ: “Giám đốc” gọi điện yêu cầu trả gấp NCC mới → 25 + 20 + 15 + 20 = 80 điểm → rủi ro CAO.</a:t>
            </a:r>
          </a:p>
        </p:txBody>
      </p:sp>
      <p:sp>
        <p:nvSpPr>
          <p:cNvPr id="17" name="TextBox 16"/>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8" name="TextBox 17"/>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Tình huống 1: “Giám đốc” gọi video yêu cầu chuyển gấp</a:t>
            </a:r>
          </a:p>
        </p:txBody>
      </p:sp>
      <p:sp>
        <p:nvSpPr>
          <p:cNvPr id="3" name="TextBox 2"/>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i="0">
                <a:solidFill>
                  <a:srgbClr val="5B667A"/>
                </a:solidFill>
                <a:latin typeface="Calibri"/>
              </a:rPr>
              <a:t>Hình ảnh và giọng nói giống thật – hệ thống không cần biết đó là deepfake</a:t>
            </a:r>
          </a:p>
        </p:txBody>
      </p:sp>
      <p:sp>
        <p:nvSpPr>
          <p:cNvPr id="4" name="Rounded Rectangle 3"/>
          <p:cNvSpPr/>
          <p:nvPr/>
        </p:nvSpPr>
        <p:spPr>
          <a:xfrm>
            <a:off x="548640" y="1828800"/>
            <a:ext cx="2057400" cy="27432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011680"/>
            <a:ext cx="502920" cy="502920"/>
          </a:xfrm>
          <a:prstGeom prst="ellipse">
            <a:avLst/>
          </a:prstGeom>
          <a:solidFill>
            <a:srgbClr val="223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731520" y="2697480"/>
            <a:ext cx="1737360" cy="822960"/>
          </a:xfrm>
          <a:prstGeom prst="rect">
            <a:avLst/>
          </a:prstGeom>
          <a:noFill/>
        </p:spPr>
        <p:txBody>
          <a:bodyPr wrap="square" anchor="t" lIns="45720" rIns="45720">
            <a:spAutoFit/>
          </a:bodyPr>
          <a:lstStyle/>
          <a:p>
            <a:pPr algn="l">
              <a:spcAft>
                <a:spcPts val="600"/>
              </a:spcAft>
            </a:pPr>
            <a:r>
              <a:rPr sz="1500" b="1" i="0">
                <a:solidFill>
                  <a:srgbClr val="1D2433"/>
                </a:solidFill>
                <a:latin typeface="Cambria"/>
              </a:rPr>
              <a:t>Kế toán nhập lệnh 300 triệu</a:t>
            </a:r>
          </a:p>
        </p:txBody>
      </p:sp>
      <p:sp>
        <p:nvSpPr>
          <p:cNvPr id="7" name="TextBox 6"/>
          <p:cNvSpPr txBox="1"/>
          <p:nvPr/>
        </p:nvSpPr>
        <p:spPr>
          <a:xfrm>
            <a:off x="731520" y="3520440"/>
            <a:ext cx="1737360" cy="1005840"/>
          </a:xfrm>
          <a:prstGeom prst="rect">
            <a:avLst/>
          </a:prstGeom>
          <a:noFill/>
        </p:spPr>
        <p:txBody>
          <a:bodyPr wrap="square" anchor="t" lIns="45720" rIns="45720">
            <a:spAutoFit/>
          </a:bodyPr>
          <a:lstStyle/>
          <a:p>
            <a:pPr algn="l">
              <a:spcAft>
                <a:spcPts val="600"/>
              </a:spcAft>
            </a:pPr>
            <a:r>
              <a:rPr sz="1300" b="0" i="0">
                <a:solidFill>
                  <a:srgbClr val="5B667A"/>
                </a:solidFill>
                <a:latin typeface="Calibri"/>
              </a:rPr>
              <a:t>kênh: cuộc gọi · tự xưng: Giám đốc Nam · khẩn cấp</a:t>
            </a:r>
          </a:p>
        </p:txBody>
      </p:sp>
      <p:sp>
        <p:nvSpPr>
          <p:cNvPr id="8" name="Right Arrow 7"/>
          <p:cNvSpPr/>
          <p:nvPr/>
        </p:nvSpPr>
        <p:spPr>
          <a:xfrm>
            <a:off x="2624328" y="3063240"/>
            <a:ext cx="192024" cy="274320"/>
          </a:xfrm>
          <a:prstGeom prst="rightArrow">
            <a:avLst/>
          </a:prstGeom>
          <a:solidFill>
            <a:srgbClr val="5B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828800"/>
            <a:ext cx="2057400" cy="27432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17520" y="2011680"/>
            <a:ext cx="502920" cy="502920"/>
          </a:xfrm>
          <a:prstGeom prst="ellipse">
            <a:avLst/>
          </a:prstGeom>
          <a:solidFill>
            <a:srgbClr val="C97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3017520" y="2697480"/>
            <a:ext cx="1737360" cy="822960"/>
          </a:xfrm>
          <a:prstGeom prst="rect">
            <a:avLst/>
          </a:prstGeom>
          <a:noFill/>
        </p:spPr>
        <p:txBody>
          <a:bodyPr wrap="square" anchor="t" lIns="45720" rIns="45720">
            <a:spAutoFit/>
          </a:bodyPr>
          <a:lstStyle/>
          <a:p>
            <a:pPr algn="l">
              <a:spcAft>
                <a:spcPts val="600"/>
              </a:spcAft>
            </a:pPr>
            <a:r>
              <a:rPr sz="1500" b="1" i="0">
                <a:solidFill>
                  <a:srgbClr val="1D2433"/>
                </a:solidFill>
                <a:latin typeface="Cambria"/>
              </a:rPr>
              <a:t>Rủi ro CAO – 80 điểm</a:t>
            </a:r>
          </a:p>
        </p:txBody>
      </p:sp>
      <p:sp>
        <p:nvSpPr>
          <p:cNvPr id="12" name="TextBox 11"/>
          <p:cNvSpPr txBox="1"/>
          <p:nvPr/>
        </p:nvSpPr>
        <p:spPr>
          <a:xfrm>
            <a:off x="3017520" y="3520440"/>
            <a:ext cx="1737360" cy="1005840"/>
          </a:xfrm>
          <a:prstGeom prst="rect">
            <a:avLst/>
          </a:prstGeom>
          <a:noFill/>
        </p:spPr>
        <p:txBody>
          <a:bodyPr wrap="square" anchor="t" lIns="45720" rIns="45720">
            <a:spAutoFit/>
          </a:bodyPr>
          <a:lstStyle/>
          <a:p>
            <a:pPr algn="l">
              <a:spcAft>
                <a:spcPts val="600"/>
              </a:spcAft>
            </a:pPr>
            <a:r>
              <a:rPr sz="1300" b="0" i="0">
                <a:solidFill>
                  <a:srgbClr val="5B667A"/>
                </a:solidFill>
                <a:latin typeface="Calibri"/>
              </a:rPr>
              <a:t>cần 2 người + chính GĐ Nam ký + gọi lại</a:t>
            </a:r>
          </a:p>
        </p:txBody>
      </p:sp>
      <p:sp>
        <p:nvSpPr>
          <p:cNvPr id="13" name="Right Arrow 12"/>
          <p:cNvSpPr/>
          <p:nvPr/>
        </p:nvSpPr>
        <p:spPr>
          <a:xfrm>
            <a:off x="4910328" y="3063240"/>
            <a:ext cx="192024" cy="274320"/>
          </a:xfrm>
          <a:prstGeom prst="rightArrow">
            <a:avLst/>
          </a:prstGeom>
          <a:solidFill>
            <a:srgbClr val="5B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828800"/>
            <a:ext cx="2057400" cy="27432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03520" y="2011680"/>
            <a:ext cx="502920" cy="502920"/>
          </a:xfrm>
          <a:prstGeom prst="ellipse">
            <a:avLst/>
          </a:prstGeom>
          <a:solidFill>
            <a:srgbClr val="C97C1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5303520" y="2697480"/>
            <a:ext cx="1737360" cy="822960"/>
          </a:xfrm>
          <a:prstGeom prst="rect">
            <a:avLst/>
          </a:prstGeom>
          <a:noFill/>
        </p:spPr>
        <p:txBody>
          <a:bodyPr wrap="square" anchor="t" lIns="45720" rIns="45720">
            <a:spAutoFit/>
          </a:bodyPr>
          <a:lstStyle/>
          <a:p>
            <a:pPr algn="l">
              <a:spcAft>
                <a:spcPts val="600"/>
              </a:spcAft>
            </a:pPr>
            <a:r>
              <a:rPr sz="1500" b="1" i="0">
                <a:solidFill>
                  <a:srgbClr val="1D2433"/>
                </a:solidFill>
                <a:latin typeface="Cambria"/>
              </a:rPr>
              <a:t>KTT và Phó GĐ đều duyệt</a:t>
            </a:r>
          </a:p>
        </p:txBody>
      </p:sp>
      <p:sp>
        <p:nvSpPr>
          <p:cNvPr id="17" name="TextBox 16"/>
          <p:cNvSpPr txBox="1"/>
          <p:nvPr/>
        </p:nvSpPr>
        <p:spPr>
          <a:xfrm>
            <a:off x="5303520" y="3520440"/>
            <a:ext cx="1737360" cy="1005840"/>
          </a:xfrm>
          <a:prstGeom prst="rect">
            <a:avLst/>
          </a:prstGeom>
          <a:noFill/>
        </p:spPr>
        <p:txBody>
          <a:bodyPr wrap="square" anchor="t" lIns="45720" rIns="45720">
            <a:spAutoFit/>
          </a:bodyPr>
          <a:lstStyle/>
          <a:p>
            <a:pPr algn="l">
              <a:spcAft>
                <a:spcPts val="600"/>
              </a:spcAft>
            </a:pPr>
            <a:r>
              <a:rPr sz="1300" b="0" i="0">
                <a:solidFill>
                  <a:srgbClr val="5B667A"/>
                </a:solidFill>
                <a:latin typeface="Calibri"/>
              </a:rPr>
              <a:t>vẫn CHƯA ĐỦ – thiếu chữ ký của GĐ Nam</a:t>
            </a:r>
          </a:p>
        </p:txBody>
      </p:sp>
      <p:sp>
        <p:nvSpPr>
          <p:cNvPr id="18" name="Right Arrow 17"/>
          <p:cNvSpPr/>
          <p:nvPr/>
        </p:nvSpPr>
        <p:spPr>
          <a:xfrm>
            <a:off x="7196327" y="3063240"/>
            <a:ext cx="192024" cy="274320"/>
          </a:xfrm>
          <a:prstGeom prst="rightArrow">
            <a:avLst/>
          </a:prstGeom>
          <a:solidFill>
            <a:srgbClr val="5B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828800"/>
            <a:ext cx="2057400" cy="27432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9519" y="201168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1" name="TextBox 20"/>
          <p:cNvSpPr txBox="1"/>
          <p:nvPr/>
        </p:nvSpPr>
        <p:spPr>
          <a:xfrm>
            <a:off x="7589519" y="2697480"/>
            <a:ext cx="1737360" cy="822960"/>
          </a:xfrm>
          <a:prstGeom prst="rect">
            <a:avLst/>
          </a:prstGeom>
          <a:noFill/>
        </p:spPr>
        <p:txBody>
          <a:bodyPr wrap="square" anchor="t" lIns="45720" rIns="45720">
            <a:spAutoFit/>
          </a:bodyPr>
          <a:lstStyle/>
          <a:p>
            <a:pPr algn="l">
              <a:spcAft>
                <a:spcPts val="600"/>
              </a:spcAft>
            </a:pPr>
            <a:r>
              <a:rPr sz="1500" b="1" i="0">
                <a:solidFill>
                  <a:srgbClr val="1D2433"/>
                </a:solidFill>
                <a:latin typeface="Cambria"/>
              </a:rPr>
              <a:t>Gọi lại số “GĐ” đọc</a:t>
            </a:r>
          </a:p>
        </p:txBody>
      </p:sp>
      <p:sp>
        <p:nvSpPr>
          <p:cNvPr id="22" name="TextBox 21"/>
          <p:cNvSpPr txBox="1"/>
          <p:nvPr/>
        </p:nvSpPr>
        <p:spPr>
          <a:xfrm>
            <a:off x="7589519" y="3520440"/>
            <a:ext cx="1737360" cy="1005840"/>
          </a:xfrm>
          <a:prstGeom prst="rect">
            <a:avLst/>
          </a:prstGeom>
          <a:noFill/>
        </p:spPr>
        <p:txBody>
          <a:bodyPr wrap="square" anchor="t" lIns="45720" rIns="45720">
            <a:spAutoFit/>
          </a:bodyPr>
          <a:lstStyle/>
          <a:p>
            <a:pPr algn="l">
              <a:spcAft>
                <a:spcPts val="600"/>
              </a:spcAft>
            </a:pPr>
            <a:r>
              <a:rPr sz="1300" b="0" i="0">
                <a:solidFill>
                  <a:srgbClr val="5B667A"/>
                </a:solidFill>
                <a:latin typeface="Calibri"/>
              </a:rPr>
              <a:t>bị từ chối: không phải số trong danh bạ</a:t>
            </a:r>
          </a:p>
        </p:txBody>
      </p:sp>
      <p:sp>
        <p:nvSpPr>
          <p:cNvPr id="23" name="Right Arrow 22"/>
          <p:cNvSpPr/>
          <p:nvPr/>
        </p:nvSpPr>
        <p:spPr>
          <a:xfrm>
            <a:off x="9482328" y="3063240"/>
            <a:ext cx="192024" cy="274320"/>
          </a:xfrm>
          <a:prstGeom prst="rightArrow">
            <a:avLst/>
          </a:prstGeom>
          <a:solidFill>
            <a:srgbClr val="5B6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92640" y="1828800"/>
            <a:ext cx="2057400" cy="27432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75519" y="2011680"/>
            <a:ext cx="502920" cy="50292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6" name="TextBox 25"/>
          <p:cNvSpPr txBox="1"/>
          <p:nvPr/>
        </p:nvSpPr>
        <p:spPr>
          <a:xfrm>
            <a:off x="9875519" y="2697480"/>
            <a:ext cx="1737360" cy="822960"/>
          </a:xfrm>
          <a:prstGeom prst="rect">
            <a:avLst/>
          </a:prstGeom>
          <a:noFill/>
        </p:spPr>
        <p:txBody>
          <a:bodyPr wrap="square" anchor="t" lIns="45720" rIns="45720">
            <a:spAutoFit/>
          </a:bodyPr>
          <a:lstStyle/>
          <a:p>
            <a:pPr algn="l">
              <a:spcAft>
                <a:spcPts val="600"/>
              </a:spcAft>
            </a:pPr>
            <a:r>
              <a:rPr sz="1500" b="1" i="0">
                <a:solidFill>
                  <a:srgbClr val="1D2433"/>
                </a:solidFill>
                <a:latin typeface="Cambria"/>
              </a:rPr>
              <a:t>Gọi số GĐ trong danh bạ</a:t>
            </a:r>
          </a:p>
        </p:txBody>
      </p:sp>
      <p:sp>
        <p:nvSpPr>
          <p:cNvPr id="27" name="TextBox 26"/>
          <p:cNvSpPr txBox="1"/>
          <p:nvPr/>
        </p:nvSpPr>
        <p:spPr>
          <a:xfrm>
            <a:off x="9875519" y="3520440"/>
            <a:ext cx="1737360" cy="1005840"/>
          </a:xfrm>
          <a:prstGeom prst="rect">
            <a:avLst/>
          </a:prstGeom>
          <a:noFill/>
        </p:spPr>
        <p:txBody>
          <a:bodyPr wrap="square" anchor="t" lIns="45720" rIns="45720">
            <a:spAutoFit/>
          </a:bodyPr>
          <a:lstStyle/>
          <a:p>
            <a:pPr algn="l">
              <a:spcAft>
                <a:spcPts val="600"/>
              </a:spcAft>
            </a:pPr>
            <a:r>
              <a:rPr sz="1300" b="0" i="0">
                <a:solidFill>
                  <a:srgbClr val="5B667A"/>
                </a:solidFill>
                <a:latin typeface="Calibri"/>
              </a:rPr>
              <a:t>GĐ: “Tôi không gọi” → REJECTED, cảnh báo</a:t>
            </a:r>
          </a:p>
        </p:txBody>
      </p:sp>
      <p:sp>
        <p:nvSpPr>
          <p:cNvPr id="28" name="Rounded Rectangle 27"/>
          <p:cNvSpPr/>
          <p:nvPr/>
        </p:nvSpPr>
        <p:spPr>
          <a:xfrm>
            <a:off x="548640" y="4892040"/>
            <a:ext cx="11064240" cy="1188720"/>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983480"/>
            <a:ext cx="10607040" cy="1005840"/>
          </a:xfrm>
          <a:prstGeom prst="rect">
            <a:avLst/>
          </a:prstGeom>
          <a:noFill/>
        </p:spPr>
        <p:txBody>
          <a:bodyPr wrap="square" anchor="ctr" lIns="45720" rIns="45720">
            <a:spAutoFit/>
          </a:bodyPr>
          <a:lstStyle/>
          <a:p>
            <a:pPr algn="l">
              <a:spcAft>
                <a:spcPts val="600"/>
              </a:spcAft>
            </a:pPr>
            <a:r>
              <a:rPr sz="1600" b="1" i="0">
                <a:solidFill>
                  <a:srgbClr val="8FE3CF"/>
                </a:solidFill>
                <a:latin typeface="Calibri"/>
              </a:rPr>
              <a:t>Biến thể: </a:t>
            </a:r>
            <a:r>
              <a:rPr sz="1600" b="0" i="0">
                <a:solidFill>
                  <a:srgbClr val="FFFFFF"/>
                </a:solidFill>
                <a:latin typeface="Calibri"/>
              </a:rPr>
              <a:t>kẻ gian đọc STK mới (9704 2299 8811) → STK khác sổ đăng ký → lệnh bị CHẶN ngay khi tạo.</a:t>
            </a:r>
          </a:p>
          <a:p>
            <a:pPr algn="l">
              <a:spcAft>
                <a:spcPts val="600"/>
              </a:spcAft>
            </a:pPr>
            <a:r>
              <a:rPr sz="1600" b="1" i="0">
                <a:solidFill>
                  <a:srgbClr val="8FE3CF"/>
                </a:solidFill>
                <a:latin typeface="Calibri"/>
              </a:rPr>
              <a:t>Nếu đó là Giám đốc thật: </a:t>
            </a:r>
            <a:r>
              <a:rPr sz="1600" b="0" i="0">
                <a:solidFill>
                  <a:srgbClr val="FFFFFF"/>
                </a:solidFill>
                <a:latin typeface="Calibri"/>
              </a:rPr>
              <a:t>chỉ tốn thêm một lần bấm ký trên điện thoại của Giám đốc.</a:t>
            </a:r>
          </a:p>
        </p:txBody>
      </p:sp>
      <p:sp>
        <p:nvSpPr>
          <p:cNvPr id="30" name="TextBox 29"/>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31" name="TextBox 30"/>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Tình huống 2: email giả nhà cung cấp đổi số tài khoản</a:t>
            </a:r>
          </a:p>
        </p:txBody>
      </p:sp>
      <p:pic>
        <p:nvPicPr>
          <p:cNvPr id="3" name="Picture 2" descr="04_luong_doi_so_tai_khoan.png"/>
          <p:cNvPicPr>
            <a:picLocks noChangeAspect="1"/>
          </p:cNvPicPr>
          <p:nvPr/>
        </p:nvPicPr>
        <p:blipFill>
          <a:blip r:embed="rId2"/>
          <a:stretch>
            <a:fillRect/>
          </a:stretch>
        </p:blipFill>
        <p:spPr>
          <a:xfrm>
            <a:off x="2164662" y="1188720"/>
            <a:ext cx="7832194" cy="3291840"/>
          </a:xfrm>
          <a:prstGeom prst="rect">
            <a:avLst/>
          </a:prstGeom>
        </p:spPr>
      </p:pic>
      <p:sp>
        <p:nvSpPr>
          <p:cNvPr id="4" name="TextBox 3"/>
          <p:cNvSpPr txBox="1"/>
          <p:nvPr/>
        </p:nvSpPr>
        <p:spPr>
          <a:xfrm>
            <a:off x="548640" y="4617720"/>
            <a:ext cx="11064240" cy="1645920"/>
          </a:xfrm>
          <a:prstGeom prst="rect">
            <a:avLst/>
          </a:prstGeom>
          <a:noFill/>
        </p:spPr>
        <p:txBody>
          <a:bodyPr wrap="square" anchor="t" lIns="45720" rIns="45720">
            <a:spAutoFit/>
          </a:bodyPr>
          <a:lstStyle/>
          <a:p>
            <a:pPr algn="l">
              <a:spcAft>
                <a:spcPts val="800"/>
              </a:spcAft>
            </a:pPr>
            <a:r>
              <a:rPr sz="1500" b="0" i="0">
                <a:solidFill>
                  <a:srgbClr val="D7263D"/>
                </a:solidFill>
                <a:latin typeface="Calibri"/>
              </a:rPr>
              <a:t>•  </a:t>
            </a:r>
            <a:r>
              <a:rPr sz="1500" b="1" i="0">
                <a:solidFill>
                  <a:srgbClr val="1D2433"/>
                </a:solidFill>
                <a:latin typeface="Calibri"/>
              </a:rPr>
              <a:t>Email từ minhphat-packaging.co: </a:t>
            </a:r>
            <a:r>
              <a:rPr sz="1500" b="0" i="1">
                <a:solidFill>
                  <a:srgbClr val="1D2433"/>
                </a:solidFill>
                <a:latin typeface="Calibri"/>
              </a:rPr>
              <a:t>“từ tháng này chuyển vào TK ACB 88886666999, liên hệ 0912 345 678”</a:t>
            </a:r>
          </a:p>
          <a:p>
            <a:pPr algn="l">
              <a:spcAft>
                <a:spcPts val="800"/>
              </a:spcAft>
            </a:pPr>
            <a:r>
              <a:rPr sz="1500" b="0" i="0">
                <a:solidFill>
                  <a:srgbClr val="D7263D"/>
                </a:solidFill>
                <a:latin typeface="Calibri"/>
              </a:rPr>
              <a:t>•  </a:t>
            </a:r>
            <a:r>
              <a:rPr sz="1500" b="1" i="0">
                <a:solidFill>
                  <a:srgbClr val="1D2433"/>
                </a:solidFill>
                <a:latin typeface="Calibri"/>
              </a:rPr>
              <a:t>Hệ thống: </a:t>
            </a:r>
            <a:r>
              <a:rPr sz="1500" b="0" i="0">
                <a:solidFill>
                  <a:srgbClr val="1D2433"/>
                </a:solidFill>
                <a:latin typeface="Calibri"/>
              </a:rPr>
              <a:t>STK cũ giữ nguyên · gọi số trong email → từ chối · gọi số trong sổ (028 3812 3456) → NCC phủ nhận → REJECTED, cảnh báo CRITICAL</a:t>
            </a:r>
          </a:p>
          <a:p>
            <a:pPr algn="l">
              <a:spcAft>
                <a:spcPts val="800"/>
              </a:spcAft>
            </a:pPr>
            <a:r>
              <a:rPr sz="1500" b="0" i="0">
                <a:solidFill>
                  <a:srgbClr val="D7263D"/>
                </a:solidFill>
                <a:latin typeface="Calibri"/>
              </a:rPr>
              <a:t>•  </a:t>
            </a:r>
            <a:r>
              <a:rPr sz="1500" b="1" i="0">
                <a:solidFill>
                  <a:srgbClr val="1D2433"/>
                </a:solidFill>
                <a:latin typeface="Calibri"/>
              </a:rPr>
              <a:t>Nếu NCC đổi thật: </a:t>
            </a:r>
            <a:r>
              <a:rPr sz="1500" b="0" i="0">
                <a:solidFill>
                  <a:srgbClr val="1D2433"/>
                </a:solidFill>
                <a:latin typeface="Calibri"/>
              </a:rPr>
              <a:t>vẫn đổi được, nhưng 48 giờ đầu mọi lệnh tới NCC đó bị chặn</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6" name="TextBox 5"/>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Tình huống 3: tài khoản bị chiếm quyền</a:t>
            </a:r>
          </a:p>
        </p:txBody>
      </p:sp>
      <p:sp>
        <p:nvSpPr>
          <p:cNvPr id="3" name="TextBox 2"/>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i="0">
                <a:solidFill>
                  <a:srgbClr val="5B667A"/>
                </a:solidFill>
                <a:latin typeface="Calibri"/>
              </a:rPr>
              <a:t>Mỗi lớp được thiết kế với giả định lớp trước đã bị vượt qua</a:t>
            </a:r>
          </a:p>
        </p:txBody>
      </p:sp>
      <p:pic>
        <p:nvPicPr>
          <p:cNvPr id="4" name="Picture 3" descr="06_phong_thu_nhieu_lop.png"/>
          <p:cNvPicPr>
            <a:picLocks noChangeAspect="1"/>
          </p:cNvPicPr>
          <p:nvPr/>
        </p:nvPicPr>
        <p:blipFill>
          <a:blip r:embed="rId2"/>
          <a:stretch>
            <a:fillRect/>
          </a:stretch>
        </p:blipFill>
        <p:spPr>
          <a:xfrm>
            <a:off x="776377" y="1554480"/>
            <a:ext cx="10608765" cy="4754880"/>
          </a:xfrm>
          <a:prstGeom prst="rect">
            <a:avLst/>
          </a:prstGeom>
        </p:spPr>
      </p:pic>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6" name="TextBox 5"/>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Tình huống 4: dữ liệu bị chỉnh sửa</a:t>
            </a:r>
          </a:p>
        </p:txBody>
      </p:sp>
      <p:sp>
        <p:nvSpPr>
          <p:cNvPr id="3" name="Rounded Rectangle 2"/>
          <p:cNvSpPr/>
          <p:nvPr/>
        </p:nvSpPr>
        <p:spPr>
          <a:xfrm>
            <a:off x="548640" y="1371600"/>
            <a:ext cx="5394960" cy="2148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60020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5" name="TextBox 4"/>
          <p:cNvSpPr txBox="1"/>
          <p:nvPr/>
        </p:nvSpPr>
        <p:spPr>
          <a:xfrm>
            <a:off x="1417319" y="157276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Mã độc tráo số tiền</a:t>
            </a:r>
          </a:p>
        </p:txBody>
      </p:sp>
      <p:sp>
        <p:nvSpPr>
          <p:cNvPr id="6" name="TextBox 5"/>
          <p:cNvSpPr txBox="1"/>
          <p:nvPr/>
        </p:nvSpPr>
        <p:spPr>
          <a:xfrm>
            <a:off x="777240" y="2240280"/>
            <a:ext cx="4937760" cy="1143000"/>
          </a:xfrm>
          <a:prstGeom prst="rect">
            <a:avLst/>
          </a:prstGeom>
          <a:noFill/>
        </p:spPr>
        <p:txBody>
          <a:bodyPr wrap="square" anchor="t" lIns="45720" rIns="45720">
            <a:spAutoFit/>
          </a:bodyPr>
          <a:lstStyle/>
          <a:p>
            <a:pPr algn="l">
              <a:spcAft>
                <a:spcPts val="400"/>
              </a:spcAft>
            </a:pPr>
            <a:r>
              <a:rPr sz="1500" b="0" i="0">
                <a:solidFill>
                  <a:srgbClr val="1D2433"/>
                </a:solidFill>
                <a:latin typeface="Calibri"/>
              </a:rPr>
              <a:t>Màn hình hiển thị 4,8 triệu thay vì 48 triệu → chữ ký không khớp lệnh → từ chối, cảnh báo.</a:t>
            </a:r>
          </a:p>
        </p:txBody>
      </p:sp>
      <p:sp>
        <p:nvSpPr>
          <p:cNvPr id="7" name="TextBox 6"/>
          <p:cNvSpPr txBox="1"/>
          <p:nvPr/>
        </p:nvSpPr>
        <p:spPr>
          <a:xfrm>
            <a:off x="4572000" y="3063240"/>
            <a:ext cx="1188720" cy="320040"/>
          </a:xfrm>
          <a:prstGeom prst="rect">
            <a:avLst/>
          </a:prstGeom>
          <a:noFill/>
        </p:spPr>
        <p:txBody>
          <a:bodyPr wrap="square" anchor="t" lIns="45720" rIns="45720">
            <a:spAutoFit/>
          </a:bodyPr>
          <a:lstStyle/>
          <a:p>
            <a:pPr algn="r">
              <a:spcAft>
                <a:spcPts val="600"/>
              </a:spcAft>
            </a:pPr>
            <a:r>
              <a:rPr sz="1200" b="0" i="0">
                <a:solidFill>
                  <a:srgbClr val="5B667A"/>
                </a:solidFill>
                <a:latin typeface="Calibri"/>
              </a:rPr>
              <a:t>TC23</a:t>
            </a:r>
          </a:p>
        </p:txBody>
      </p:sp>
      <p:sp>
        <p:nvSpPr>
          <p:cNvPr id="8" name="Rounded Rectangle 7"/>
          <p:cNvSpPr/>
          <p:nvPr/>
        </p:nvSpPr>
        <p:spPr>
          <a:xfrm>
            <a:off x="6172200" y="1371600"/>
            <a:ext cx="5394960" cy="2148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0" y="160020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0" name="TextBox 9"/>
          <p:cNvSpPr txBox="1"/>
          <p:nvPr/>
        </p:nvSpPr>
        <p:spPr>
          <a:xfrm>
            <a:off x="7040880" y="157276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Nội gián sửa CSDL</a:t>
            </a:r>
          </a:p>
        </p:txBody>
      </p:sp>
      <p:sp>
        <p:nvSpPr>
          <p:cNvPr id="11" name="TextBox 10"/>
          <p:cNvSpPr txBox="1"/>
          <p:nvPr/>
        </p:nvSpPr>
        <p:spPr>
          <a:xfrm>
            <a:off x="6400800" y="2240280"/>
            <a:ext cx="4937760" cy="1143000"/>
          </a:xfrm>
          <a:prstGeom prst="rect">
            <a:avLst/>
          </a:prstGeom>
          <a:noFill/>
        </p:spPr>
        <p:txBody>
          <a:bodyPr wrap="square" anchor="t" lIns="45720" rIns="45720">
            <a:spAutoFit/>
          </a:bodyPr>
          <a:lstStyle/>
          <a:p>
            <a:pPr algn="l">
              <a:spcAft>
                <a:spcPts val="400"/>
              </a:spcAft>
            </a:pPr>
            <a:r>
              <a:rPr sz="1500" b="0" i="0">
                <a:solidFill>
                  <a:srgbClr val="1D2433"/>
                </a:solidFill>
                <a:latin typeface="Calibri"/>
              </a:rPr>
              <a:t>Đổi STK của lệnh đã duyệt → HMAC sai → lệnh BLOCKED khi thực thi.</a:t>
            </a:r>
          </a:p>
        </p:txBody>
      </p:sp>
      <p:sp>
        <p:nvSpPr>
          <p:cNvPr id="12" name="TextBox 11"/>
          <p:cNvSpPr txBox="1"/>
          <p:nvPr/>
        </p:nvSpPr>
        <p:spPr>
          <a:xfrm>
            <a:off x="10195560" y="3063240"/>
            <a:ext cx="1188720" cy="320040"/>
          </a:xfrm>
          <a:prstGeom prst="rect">
            <a:avLst/>
          </a:prstGeom>
          <a:noFill/>
        </p:spPr>
        <p:txBody>
          <a:bodyPr wrap="square" anchor="t" lIns="45720" rIns="45720">
            <a:spAutoFit/>
          </a:bodyPr>
          <a:lstStyle/>
          <a:p>
            <a:pPr algn="r">
              <a:spcAft>
                <a:spcPts val="600"/>
              </a:spcAft>
            </a:pPr>
            <a:r>
              <a:rPr sz="1200" b="0" i="0">
                <a:solidFill>
                  <a:srgbClr val="5B667A"/>
                </a:solidFill>
                <a:latin typeface="Calibri"/>
              </a:rPr>
              <a:t>TC24</a:t>
            </a:r>
          </a:p>
        </p:txBody>
      </p:sp>
      <p:sp>
        <p:nvSpPr>
          <p:cNvPr id="13" name="Rounded Rectangle 12"/>
          <p:cNvSpPr/>
          <p:nvPr/>
        </p:nvSpPr>
        <p:spPr>
          <a:xfrm>
            <a:off x="548640" y="3794760"/>
            <a:ext cx="5394960" cy="2148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402336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5" name="TextBox 14"/>
          <p:cNvSpPr txBox="1"/>
          <p:nvPr/>
        </p:nvSpPr>
        <p:spPr>
          <a:xfrm>
            <a:off x="1417319" y="399592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Chữ ký dùng sai ngữ cảnh</a:t>
            </a:r>
          </a:p>
        </p:txBody>
      </p:sp>
      <p:sp>
        <p:nvSpPr>
          <p:cNvPr id="16" name="TextBox 15"/>
          <p:cNvSpPr txBox="1"/>
          <p:nvPr/>
        </p:nvSpPr>
        <p:spPr>
          <a:xfrm>
            <a:off x="777240" y="4663440"/>
            <a:ext cx="4937760" cy="1143000"/>
          </a:xfrm>
          <a:prstGeom prst="rect">
            <a:avLst/>
          </a:prstGeom>
          <a:noFill/>
        </p:spPr>
        <p:txBody>
          <a:bodyPr wrap="square" anchor="t" lIns="45720" rIns="45720">
            <a:spAutoFit/>
          </a:bodyPr>
          <a:lstStyle/>
          <a:p>
            <a:pPr algn="l">
              <a:spcAft>
                <a:spcPts val="400"/>
              </a:spcAft>
            </a:pPr>
            <a:r>
              <a:rPr sz="1500" b="0" i="0">
                <a:solidFill>
                  <a:srgbClr val="1D2433"/>
                </a:solidFill>
                <a:latin typeface="Calibri"/>
              </a:rPr>
              <a:t>Chữ ký lệnh A dùng cho lệnh B; chữ ký “từ chối” dùng làm “duyệt” → từ chối.</a:t>
            </a:r>
          </a:p>
        </p:txBody>
      </p:sp>
      <p:sp>
        <p:nvSpPr>
          <p:cNvPr id="17" name="TextBox 16"/>
          <p:cNvSpPr txBox="1"/>
          <p:nvPr/>
        </p:nvSpPr>
        <p:spPr>
          <a:xfrm>
            <a:off x="4572000" y="5486400"/>
            <a:ext cx="1188720" cy="320040"/>
          </a:xfrm>
          <a:prstGeom prst="rect">
            <a:avLst/>
          </a:prstGeom>
          <a:noFill/>
        </p:spPr>
        <p:txBody>
          <a:bodyPr wrap="square" anchor="t" lIns="45720" rIns="45720">
            <a:spAutoFit/>
          </a:bodyPr>
          <a:lstStyle/>
          <a:p>
            <a:pPr algn="r">
              <a:spcAft>
                <a:spcPts val="600"/>
              </a:spcAft>
            </a:pPr>
            <a:r>
              <a:rPr sz="1200" b="0" i="0">
                <a:solidFill>
                  <a:srgbClr val="5B667A"/>
                </a:solidFill>
                <a:latin typeface="Calibri"/>
              </a:rPr>
              <a:t>TC25–26</a:t>
            </a:r>
          </a:p>
        </p:txBody>
      </p:sp>
      <p:sp>
        <p:nvSpPr>
          <p:cNvPr id="18" name="Rounded Rectangle 17"/>
          <p:cNvSpPr/>
          <p:nvPr/>
        </p:nvSpPr>
        <p:spPr>
          <a:xfrm>
            <a:off x="6172200" y="3794760"/>
            <a:ext cx="5394960" cy="2148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02336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20" name="TextBox 19"/>
          <p:cNvSpPr txBox="1"/>
          <p:nvPr/>
        </p:nvSpPr>
        <p:spPr>
          <a:xfrm>
            <a:off x="7040880" y="399592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Sửa / xoá nhật ký</a:t>
            </a:r>
          </a:p>
        </p:txBody>
      </p:sp>
      <p:sp>
        <p:nvSpPr>
          <p:cNvPr id="21" name="TextBox 20"/>
          <p:cNvSpPr txBox="1"/>
          <p:nvPr/>
        </p:nvSpPr>
        <p:spPr>
          <a:xfrm>
            <a:off x="6400800" y="4663440"/>
            <a:ext cx="4937760" cy="1143000"/>
          </a:xfrm>
          <a:prstGeom prst="rect">
            <a:avLst/>
          </a:prstGeom>
          <a:noFill/>
        </p:spPr>
        <p:txBody>
          <a:bodyPr wrap="square" anchor="t" lIns="45720" rIns="45720">
            <a:spAutoFit/>
          </a:bodyPr>
          <a:lstStyle/>
          <a:p>
            <a:pPr algn="l">
              <a:spcAft>
                <a:spcPts val="400"/>
              </a:spcAft>
            </a:pPr>
            <a:r>
              <a:rPr sz="1500" b="0" i="0">
                <a:solidFill>
                  <a:srgbClr val="1D2433"/>
                </a:solidFill>
                <a:latin typeface="Calibri"/>
              </a:rPr>
              <a:t>Sửa bản ghi, xoá bản ghi giữa, cắt đuôi → phát hiện bằng chuỗi băm, HMAC, mốc neo.</a:t>
            </a:r>
          </a:p>
        </p:txBody>
      </p:sp>
      <p:sp>
        <p:nvSpPr>
          <p:cNvPr id="22" name="TextBox 21"/>
          <p:cNvSpPr txBox="1"/>
          <p:nvPr/>
        </p:nvSpPr>
        <p:spPr>
          <a:xfrm>
            <a:off x="10195560" y="5486400"/>
            <a:ext cx="1188720" cy="320040"/>
          </a:xfrm>
          <a:prstGeom prst="rect">
            <a:avLst/>
          </a:prstGeom>
          <a:noFill/>
        </p:spPr>
        <p:txBody>
          <a:bodyPr wrap="square" anchor="t" lIns="45720" rIns="45720">
            <a:spAutoFit/>
          </a:bodyPr>
          <a:lstStyle/>
          <a:p>
            <a:pPr algn="r">
              <a:spcAft>
                <a:spcPts val="600"/>
              </a:spcAft>
            </a:pPr>
            <a:r>
              <a:rPr sz="1200" b="0" i="0">
                <a:solidFill>
                  <a:srgbClr val="5B667A"/>
                </a:solidFill>
                <a:latin typeface="Calibri"/>
              </a:rPr>
              <a:t>TC27</a:t>
            </a:r>
          </a:p>
        </p:txBody>
      </p:sp>
      <p:sp>
        <p:nvSpPr>
          <p:cNvPr id="23" name="TextBox 22"/>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24" name="TextBox 23"/>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Bốn dạng đầu vào không đáng tin</a:t>
            </a:r>
          </a:p>
        </p:txBody>
      </p:sp>
      <p:sp>
        <p:nvSpPr>
          <p:cNvPr id="3" name="TextBox 2"/>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i="0">
                <a:solidFill>
                  <a:srgbClr val="5B667A"/>
                </a:solidFill>
                <a:latin typeface="Calibri"/>
              </a:rPr>
              <a:t>Giả mạo · chỉnh sửa · đánh cắp · sử dụng sai ngữ cảnh – mỗi dạng có cơ chế riêng</a:t>
            </a:r>
          </a:p>
        </p:txBody>
      </p:sp>
      <p:graphicFrame>
        <p:nvGraphicFramePr>
          <p:cNvPr id="4" name="Table 3"/>
          <p:cNvGraphicFramePr>
            <a:graphicFrameLocks noGrp="1"/>
          </p:cNvGraphicFramePr>
          <p:nvPr/>
        </p:nvGraphicFramePr>
        <p:xfrm>
          <a:off x="548640" y="1600200"/>
          <a:ext cx="11064240" cy="4407408"/>
        </p:xfrm>
        <a:graphic>
          <a:graphicData uri="http://schemas.openxmlformats.org/drawingml/2006/table">
            <a:tbl>
              <a:tblPr firstRow="1" bandRow="1">
                <a:tableStyleId>{5C22544A-7EE6-4342-B048-85BDC9FD1C3A}</a:tableStyleId>
              </a:tblPr>
              <a:tblGrid>
                <a:gridCol w="1737360"/>
                <a:gridCol w="3840480"/>
                <a:gridCol w="3931920"/>
                <a:gridCol w="1554480"/>
              </a:tblGrid>
              <a:tr h="457200">
                <a:tc>
                  <a:txBody>
                    <a:bodyPr/>
                    <a:lstStyle/>
                    <a:p>
                      <a:r>
                        <a:rPr sz="1400" b="1">
                          <a:solidFill>
                            <a:srgbClr val="FFFFFF"/>
                          </a:solidFill>
                          <a:latin typeface="Calibri"/>
                        </a:rPr>
                        <a:t>Dạng</a:t>
                      </a:r>
                    </a:p>
                  </a:txBody>
                  <a:tcPr marL="73152" marR="73152" marT="36576" marB="36576" anchor="ctr">
                    <a:solidFill>
                      <a:srgbClr val="13233A"/>
                    </a:solidFill>
                  </a:tcPr>
                </a:tc>
                <a:tc>
                  <a:txBody>
                    <a:bodyPr/>
                    <a:lstStyle/>
                    <a:p>
                      <a:r>
                        <a:rPr sz="1400" b="1">
                          <a:solidFill>
                            <a:srgbClr val="FFFFFF"/>
                          </a:solidFill>
                          <a:latin typeface="Calibri"/>
                        </a:rPr>
                        <a:t>Ví dụ</a:t>
                      </a:r>
                    </a:p>
                  </a:txBody>
                  <a:tcPr marL="73152" marR="73152" marT="36576" marB="36576" anchor="ctr">
                    <a:solidFill>
                      <a:srgbClr val="13233A"/>
                    </a:solidFill>
                  </a:tcPr>
                </a:tc>
                <a:tc>
                  <a:txBody>
                    <a:bodyPr/>
                    <a:lstStyle/>
                    <a:p>
                      <a:r>
                        <a:rPr sz="1400" b="1">
                          <a:solidFill>
                            <a:srgbClr val="FFFFFF"/>
                          </a:solidFill>
                          <a:latin typeface="Calibri"/>
                        </a:rPr>
                        <a:t>Hệ thống xử lý</a:t>
                      </a:r>
                    </a:p>
                  </a:txBody>
                  <a:tcPr marL="73152" marR="73152" marT="36576" marB="36576" anchor="ctr">
                    <a:solidFill>
                      <a:srgbClr val="13233A"/>
                    </a:solidFill>
                  </a:tcPr>
                </a:tc>
                <a:tc>
                  <a:txBody>
                    <a:bodyPr/>
                    <a:lstStyle/>
                    <a:p>
                      <a:r>
                        <a:rPr sz="1400" b="1">
                          <a:solidFill>
                            <a:srgbClr val="FFFFFF"/>
                          </a:solidFill>
                          <a:latin typeface="Calibri"/>
                        </a:rPr>
                        <a:t>Kịch bản / test</a:t>
                      </a:r>
                    </a:p>
                  </a:txBody>
                  <a:tcPr marL="73152" marR="73152" marT="36576" marB="36576" anchor="ctr">
                    <a:solidFill>
                      <a:srgbClr val="13233A"/>
                    </a:solidFill>
                  </a:tcPr>
                </a:tc>
              </a:tr>
              <a:tr h="987552">
                <a:tc>
                  <a:txBody>
                    <a:bodyPr/>
                    <a:lstStyle/>
                    <a:p>
                      <a:r>
                        <a:rPr sz="1400" b="1">
                          <a:solidFill>
                            <a:srgbClr val="1D2433"/>
                          </a:solidFill>
                          <a:latin typeface="Calibri"/>
                        </a:rPr>
                        <a:t>Giả mạo</a:t>
                      </a:r>
                    </a:p>
                  </a:txBody>
                  <a:tcPr marL="73152" marR="73152" marT="36576" marB="36576" anchor="ctr">
                    <a:solidFill>
                      <a:srgbClr val="FCE9EB"/>
                    </a:solidFill>
                  </a:tcPr>
                </a:tc>
                <a:tc>
                  <a:txBody>
                    <a:bodyPr/>
                    <a:lstStyle/>
                    <a:p>
                      <a:r>
                        <a:rPr sz="1400" b="0">
                          <a:solidFill>
                            <a:srgbClr val="1D2433"/>
                          </a:solidFill>
                          <a:latin typeface="Calibri"/>
                        </a:rPr>
                        <a:t>Deepfake video/giọng nói, email giả NCC, ảnh hoá đơn bị sửa STK, ảnh chụp màn hình “GĐ đã duyệt”</a:t>
                      </a:r>
                    </a:p>
                  </a:txBody>
                  <a:tcPr marL="73152" marR="73152" marT="36576" marB="36576" anchor="ctr">
                    <a:solidFill>
                      <a:srgbClr val="FFFFFF"/>
                    </a:solidFill>
                  </a:tcPr>
                </a:tc>
                <a:tc>
                  <a:txBody>
                    <a:bodyPr/>
                    <a:lstStyle/>
                    <a:p>
                      <a:r>
                        <a:rPr sz="1400" b="0">
                          <a:solidFill>
                            <a:srgbClr val="1D2433"/>
                          </a:solidFill>
                          <a:latin typeface="Calibri"/>
                        </a:rPr>
                        <a:t>Chỉ là lời khẳng định: STK lấy từ sổ, người tự xưng phải tự ký, gọi lại số danh bạ</a:t>
                      </a:r>
                    </a:p>
                  </a:txBody>
                  <a:tcPr marL="73152" marR="73152" marT="36576" marB="36576" anchor="ctr">
                    <a:solidFill>
                      <a:srgbClr val="FFFFFF"/>
                    </a:solidFill>
                  </a:tcPr>
                </a:tc>
                <a:tc>
                  <a:txBody>
                    <a:bodyPr/>
                    <a:lstStyle/>
                    <a:p>
                      <a:r>
                        <a:rPr sz="1400" b="0">
                          <a:solidFill>
                            <a:srgbClr val="1D2433"/>
                          </a:solidFill>
                          <a:latin typeface="Calibri"/>
                        </a:rPr>
                        <a:t>KB03–05, KB15</a:t>
                      </a:r>
                    </a:p>
                  </a:txBody>
                  <a:tcPr marL="73152" marR="73152" marT="36576" marB="36576" anchor="ctr">
                    <a:solidFill>
                      <a:srgbClr val="FFFFFF"/>
                    </a:solidFill>
                  </a:tcPr>
                </a:tc>
              </a:tr>
              <a:tr h="987552">
                <a:tc>
                  <a:txBody>
                    <a:bodyPr/>
                    <a:lstStyle/>
                    <a:p>
                      <a:r>
                        <a:rPr sz="1400" b="1">
                          <a:solidFill>
                            <a:srgbClr val="1D2433"/>
                          </a:solidFill>
                          <a:latin typeface="Calibri"/>
                        </a:rPr>
                        <a:t>Chỉnh sửa</a:t>
                      </a:r>
                    </a:p>
                  </a:txBody>
                  <a:tcPr marL="73152" marR="73152" marT="36576" marB="36576" anchor="ctr">
                    <a:solidFill>
                      <a:srgbClr val="FDF3E1"/>
                    </a:solidFill>
                  </a:tcPr>
                </a:tc>
                <a:tc>
                  <a:txBody>
                    <a:bodyPr/>
                    <a:lstStyle/>
                    <a:p>
                      <a:r>
                        <a:rPr sz="1400" b="0">
                          <a:solidFill>
                            <a:srgbClr val="1D2433"/>
                          </a:solidFill>
                          <a:latin typeface="Calibri"/>
                        </a:rPr>
                        <a:t>Tráo số tiền lúc ký, sửa CSDL sau khi duyệt, sửa/xoá nhật ký</a:t>
                      </a:r>
                    </a:p>
                  </a:txBody>
                  <a:tcPr marL="73152" marR="73152" marT="36576" marB="36576" anchor="ctr">
                    <a:solidFill>
                      <a:srgbClr val="F1F4F8"/>
                    </a:solidFill>
                  </a:tcPr>
                </a:tc>
                <a:tc>
                  <a:txBody>
                    <a:bodyPr/>
                    <a:lstStyle/>
                    <a:p>
                      <a:r>
                        <a:rPr sz="1400" b="0">
                          <a:solidFill>
                            <a:srgbClr val="1D2433"/>
                          </a:solidFill>
                          <a:latin typeface="Calibri"/>
                        </a:rPr>
                        <a:t>Chữ ký phủ toàn bộ nội dung, HMAC kiểm tra lại khi thực thi, chuỗi băm + mốc neo</a:t>
                      </a:r>
                    </a:p>
                  </a:txBody>
                  <a:tcPr marL="73152" marR="73152" marT="36576" marB="36576" anchor="ctr">
                    <a:solidFill>
                      <a:srgbClr val="F1F4F8"/>
                    </a:solidFill>
                  </a:tcPr>
                </a:tc>
                <a:tc>
                  <a:txBody>
                    <a:bodyPr/>
                    <a:lstStyle/>
                    <a:p>
                      <a:r>
                        <a:rPr sz="1400" b="0">
                          <a:solidFill>
                            <a:srgbClr val="1D2433"/>
                          </a:solidFill>
                          <a:latin typeface="Calibri"/>
                        </a:rPr>
                        <a:t>KB10, 11, 14</a:t>
                      </a:r>
                    </a:p>
                  </a:txBody>
                  <a:tcPr marL="73152" marR="73152" marT="36576" marB="36576" anchor="ctr">
                    <a:solidFill>
                      <a:srgbClr val="F1F4F8"/>
                    </a:solidFill>
                  </a:tcPr>
                </a:tc>
              </a:tr>
              <a:tr h="987552">
                <a:tc>
                  <a:txBody>
                    <a:bodyPr/>
                    <a:lstStyle/>
                    <a:p>
                      <a:r>
                        <a:rPr sz="1400" b="1">
                          <a:solidFill>
                            <a:srgbClr val="1D2433"/>
                          </a:solidFill>
                          <a:latin typeface="Calibri"/>
                        </a:rPr>
                        <a:t>Đánh cắp</a:t>
                      </a:r>
                    </a:p>
                  </a:txBody>
                  <a:tcPr marL="73152" marR="73152" marT="36576" marB="36576" anchor="ctr">
                    <a:solidFill>
                      <a:srgbClr val="E6EEFA"/>
                    </a:solidFill>
                  </a:tcPr>
                </a:tc>
                <a:tc>
                  <a:txBody>
                    <a:bodyPr/>
                    <a:lstStyle/>
                    <a:p>
                      <a:r>
                        <a:rPr sz="1400" b="0">
                          <a:solidFill>
                            <a:srgbClr val="1D2433"/>
                          </a:solidFill>
                          <a:latin typeface="Calibri"/>
                        </a:rPr>
                        <a:t>Mật khẩu, OTP, cookie phiên, điện thoại người duyệt</a:t>
                      </a:r>
                    </a:p>
                  </a:txBody>
                  <a:tcPr marL="73152" marR="73152" marT="36576" marB="36576" anchor="ctr">
                    <a:solidFill>
                      <a:srgbClr val="FFFFFF"/>
                    </a:solidFill>
                  </a:tcPr>
                </a:tc>
                <a:tc>
                  <a:txBody>
                    <a:bodyPr/>
                    <a:lstStyle/>
                    <a:p>
                      <a:r>
                        <a:rPr sz="1400" b="0">
                          <a:solidFill>
                            <a:srgbClr val="1D2433"/>
                          </a:solidFill>
                          <a:latin typeface="Calibri"/>
                        </a:rPr>
                        <a:t>MFA gắn thiết bị, phê duyệt cần khoá riêng, người duyệt thứ hai, khoá khẩn cấp</a:t>
                      </a:r>
                    </a:p>
                  </a:txBody>
                  <a:tcPr marL="73152" marR="73152" marT="36576" marB="36576" anchor="ctr">
                    <a:solidFill>
                      <a:srgbClr val="FFFFFF"/>
                    </a:solidFill>
                  </a:tcPr>
                </a:tc>
                <a:tc>
                  <a:txBody>
                    <a:bodyPr/>
                    <a:lstStyle/>
                    <a:p>
                      <a:r>
                        <a:rPr sz="1400" b="0">
                          <a:solidFill>
                            <a:srgbClr val="1D2433"/>
                          </a:solidFill>
                          <a:latin typeface="Calibri"/>
                        </a:rPr>
                        <a:t>KB07–09, KB13</a:t>
                      </a:r>
                    </a:p>
                  </a:txBody>
                  <a:tcPr marL="73152" marR="73152" marT="36576" marB="36576" anchor="ctr">
                    <a:solidFill>
                      <a:srgbClr val="FFFFFF"/>
                    </a:solidFill>
                  </a:tcPr>
                </a:tc>
              </a:tr>
              <a:tr h="987552">
                <a:tc>
                  <a:txBody>
                    <a:bodyPr/>
                    <a:lstStyle/>
                    <a:p>
                      <a:r>
                        <a:rPr sz="1400" b="1">
                          <a:solidFill>
                            <a:srgbClr val="1D2433"/>
                          </a:solidFill>
                          <a:latin typeface="Calibri"/>
                        </a:rPr>
                        <a:t>Sai ngữ cảnh</a:t>
                      </a:r>
                    </a:p>
                  </a:txBody>
                  <a:tcPr marL="73152" marR="73152" marT="36576" marB="36576" anchor="ctr">
                    <a:solidFill>
                      <a:srgbClr val="E3F4F0"/>
                    </a:solidFill>
                  </a:tcPr>
                </a:tc>
                <a:tc>
                  <a:txBody>
                    <a:bodyPr/>
                    <a:lstStyle/>
                    <a:p>
                      <a:r>
                        <a:rPr sz="1400" b="0">
                          <a:solidFill>
                            <a:srgbClr val="1D2433"/>
                          </a:solidFill>
                          <a:latin typeface="Calibri"/>
                        </a:rPr>
                        <a:t>Chữ ký của lệnh khác, chữ ký “từ chối”, OTP cũ, phê duyệt quá hạn, số gọi lại của kẻ gian</a:t>
                      </a:r>
                    </a:p>
                  </a:txBody>
                  <a:tcPr marL="73152" marR="73152" marT="36576" marB="36576" anchor="ctr">
                    <a:solidFill>
                      <a:srgbClr val="F1F4F8"/>
                    </a:solidFill>
                  </a:tcPr>
                </a:tc>
                <a:tc>
                  <a:txBody>
                    <a:bodyPr/>
                    <a:lstStyle/>
                    <a:p>
                      <a:r>
                        <a:rPr sz="1400" b="0">
                          <a:solidFill>
                            <a:srgbClr val="1D2433"/>
                          </a:solidFill>
                          <a:latin typeface="Calibri"/>
                        </a:rPr>
                        <a:t>Ràng buộc ngữ cảnh: request_id, nonce, quyết định, hạn trong nội dung ký; bộ đếm OTP</a:t>
                      </a:r>
                    </a:p>
                  </a:txBody>
                  <a:tcPr marL="73152" marR="73152" marT="36576" marB="36576" anchor="ctr">
                    <a:solidFill>
                      <a:srgbClr val="F1F4F8"/>
                    </a:solidFill>
                  </a:tcPr>
                </a:tc>
                <a:tc>
                  <a:txBody>
                    <a:bodyPr/>
                    <a:lstStyle/>
                    <a:p>
                      <a:r>
                        <a:rPr sz="1400" b="0">
                          <a:solidFill>
                            <a:srgbClr val="1D2433"/>
                          </a:solidFill>
                          <a:latin typeface="Calibri"/>
                        </a:rPr>
                        <a:t>TC09, 18, 22, 25, 26, 30</a:t>
                      </a:r>
                    </a:p>
                  </a:txBody>
                  <a:tcPr marL="73152" marR="73152" marT="36576" marB="36576" anchor="ctr">
                    <a:solidFill>
                      <a:srgbClr val="F1F4F8"/>
                    </a:solidFill>
                  </a:tcPr>
                </a:tc>
              </a:tr>
            </a:tbl>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6" name="TextBox 5"/>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Prototype: Python + Flask</a:t>
            </a:r>
          </a:p>
        </p:txBody>
      </p:sp>
      <p:sp>
        <p:nvSpPr>
          <p:cNvPr id="3" name="TextBox 2"/>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i="0">
                <a:solidFill>
                  <a:srgbClr val="5B667A"/>
                </a:solidFill>
                <a:latin typeface="Calibri"/>
              </a:rPr>
              <a:t>Chạy được trên máy cá nhân, kèm 15 kịch bản demo tự động</a:t>
            </a:r>
          </a:p>
        </p:txBody>
      </p:sp>
      <p:sp>
        <p:nvSpPr>
          <p:cNvPr id="4" name="TextBox 3"/>
          <p:cNvSpPr txBox="1"/>
          <p:nvPr/>
        </p:nvSpPr>
        <p:spPr>
          <a:xfrm>
            <a:off x="548640" y="1600200"/>
            <a:ext cx="5120640" cy="411480"/>
          </a:xfrm>
          <a:prstGeom prst="rect">
            <a:avLst/>
          </a:prstGeom>
          <a:noFill/>
        </p:spPr>
        <p:txBody>
          <a:bodyPr wrap="square" anchor="t" lIns="45720" rIns="45720">
            <a:spAutoFit/>
          </a:bodyPr>
          <a:lstStyle/>
          <a:p>
            <a:pPr algn="l">
              <a:spcAft>
                <a:spcPts val="600"/>
              </a:spcAft>
            </a:pPr>
            <a:r>
              <a:rPr sz="2000" b="1" i="0">
                <a:solidFill>
                  <a:srgbClr val="13233A"/>
                </a:solidFill>
                <a:latin typeface="Cambria"/>
              </a:rPr>
              <a:t>Thành phần</a:t>
            </a:r>
          </a:p>
        </p:txBody>
      </p:sp>
      <p:sp>
        <p:nvSpPr>
          <p:cNvPr id="5" name="TextBox 4"/>
          <p:cNvSpPr txBox="1"/>
          <p:nvPr/>
        </p:nvSpPr>
        <p:spPr>
          <a:xfrm>
            <a:off x="548640" y="2103120"/>
            <a:ext cx="5120640" cy="3931920"/>
          </a:xfrm>
          <a:prstGeom prst="rect">
            <a:avLst/>
          </a:prstGeom>
          <a:noFill/>
        </p:spPr>
        <p:txBody>
          <a:bodyPr wrap="square" anchor="t" lIns="45720" rIns="45720">
            <a:spAutoFit/>
          </a:bodyPr>
          <a:lstStyle/>
          <a:p>
            <a:pPr algn="l">
              <a:spcAft>
                <a:spcPts val="800"/>
              </a:spcAft>
            </a:pPr>
            <a:r>
              <a:rPr sz="1500" b="0" i="0">
                <a:solidFill>
                  <a:srgbClr val="D7263D"/>
                </a:solidFill>
                <a:latin typeface="Calibri"/>
              </a:rPr>
              <a:t>•  </a:t>
            </a:r>
            <a:r>
              <a:rPr sz="1500" b="1" i="0">
                <a:solidFill>
                  <a:srgbClr val="1D2433"/>
                </a:solidFill>
                <a:latin typeface="Calibri"/>
              </a:rPr>
              <a:t>core.py  </a:t>
            </a:r>
            <a:r>
              <a:rPr sz="1500" b="0" i="0">
                <a:solidFill>
                  <a:srgbClr val="1D2433"/>
                </a:solidFill>
                <a:latin typeface="Calibri"/>
              </a:rPr>
              <a:t>chính sách, phê duyệt, thực thi</a:t>
            </a:r>
          </a:p>
          <a:p>
            <a:pPr algn="l">
              <a:spcAft>
                <a:spcPts val="800"/>
              </a:spcAft>
            </a:pPr>
            <a:r>
              <a:rPr sz="1500" b="0" i="0">
                <a:solidFill>
                  <a:srgbClr val="D7263D"/>
                </a:solidFill>
                <a:latin typeface="Calibri"/>
              </a:rPr>
              <a:t>•  </a:t>
            </a:r>
            <a:r>
              <a:rPr sz="1500" b="1" i="0">
                <a:solidFill>
                  <a:srgbClr val="1D2433"/>
                </a:solidFill>
                <a:latin typeface="Calibri"/>
              </a:rPr>
              <a:t>crypto.py  </a:t>
            </a:r>
            <a:r>
              <a:rPr sz="1500" b="0" i="0">
                <a:solidFill>
                  <a:srgbClr val="1D2433"/>
                </a:solidFill>
                <a:latin typeface="Calibri"/>
              </a:rPr>
              <a:t>Argon2id, TOTP, Ed25519, HMAC</a:t>
            </a:r>
          </a:p>
          <a:p>
            <a:pPr algn="l">
              <a:spcAft>
                <a:spcPts val="800"/>
              </a:spcAft>
            </a:pPr>
            <a:r>
              <a:rPr sz="1500" b="0" i="0">
                <a:solidFill>
                  <a:srgbClr val="D7263D"/>
                </a:solidFill>
                <a:latin typeface="Calibri"/>
              </a:rPr>
              <a:t>•  </a:t>
            </a:r>
            <a:r>
              <a:rPr sz="1500" b="1" i="0">
                <a:solidFill>
                  <a:srgbClr val="1D2433"/>
                </a:solidFill>
                <a:latin typeface="Calibri"/>
              </a:rPr>
              <a:t>risk.py  </a:t>
            </a:r>
            <a:r>
              <a:rPr sz="1500" b="0" i="0">
                <a:solidFill>
                  <a:srgbClr val="1D2433"/>
                </a:solidFill>
                <a:latin typeface="Calibri"/>
              </a:rPr>
              <a:t>bộ chấm điểm rủi ro</a:t>
            </a:r>
          </a:p>
          <a:p>
            <a:pPr algn="l">
              <a:spcAft>
                <a:spcPts val="800"/>
              </a:spcAft>
            </a:pPr>
            <a:r>
              <a:rPr sz="1500" b="0" i="0">
                <a:solidFill>
                  <a:srgbClr val="D7263D"/>
                </a:solidFill>
                <a:latin typeface="Calibri"/>
              </a:rPr>
              <a:t>•  </a:t>
            </a:r>
            <a:r>
              <a:rPr sz="1500" b="1" i="0">
                <a:solidFill>
                  <a:srgbClr val="1D2433"/>
                </a:solidFill>
                <a:latin typeface="Calibri"/>
              </a:rPr>
              <a:t>audit.py  </a:t>
            </a:r>
            <a:r>
              <a:rPr sz="1500" b="0" i="0">
                <a:solidFill>
                  <a:srgbClr val="1D2433"/>
                </a:solidFill>
                <a:latin typeface="Calibri"/>
              </a:rPr>
              <a:t>nhật ký chuỗi băm + mốc neo</a:t>
            </a:r>
          </a:p>
          <a:p>
            <a:pPr algn="l">
              <a:spcAft>
                <a:spcPts val="800"/>
              </a:spcAft>
            </a:pPr>
            <a:r>
              <a:rPr sz="1500" b="0" i="0">
                <a:solidFill>
                  <a:srgbClr val="D7263D"/>
                </a:solidFill>
                <a:latin typeface="Calibri"/>
              </a:rPr>
              <a:t>•  </a:t>
            </a:r>
            <a:r>
              <a:rPr sz="1500" b="1" i="0">
                <a:solidFill>
                  <a:srgbClr val="1D2433"/>
                </a:solidFill>
                <a:latin typeface="Calibri"/>
              </a:rPr>
              <a:t>device.py  </a:t>
            </a:r>
            <a:r>
              <a:rPr sz="1500" b="0" i="0">
                <a:solidFill>
                  <a:srgbClr val="1D2433"/>
                </a:solidFill>
                <a:latin typeface="Calibri"/>
              </a:rPr>
              <a:t>mô phỏng ứng dụng ký trên điện thoại</a:t>
            </a:r>
          </a:p>
          <a:p>
            <a:pPr algn="l">
              <a:spcAft>
                <a:spcPts val="800"/>
              </a:spcAft>
            </a:pPr>
            <a:r>
              <a:rPr sz="1500" b="0" i="0">
                <a:solidFill>
                  <a:srgbClr val="D7263D"/>
                </a:solidFill>
                <a:latin typeface="Calibri"/>
              </a:rPr>
              <a:t>•  </a:t>
            </a:r>
            <a:r>
              <a:rPr sz="1500" b="1" i="0">
                <a:solidFill>
                  <a:srgbClr val="1D2433"/>
                </a:solidFill>
                <a:latin typeface="Calibri"/>
              </a:rPr>
              <a:t>app.py  </a:t>
            </a:r>
            <a:r>
              <a:rPr sz="1500" b="0" i="0">
                <a:solidFill>
                  <a:srgbClr val="1D2433"/>
                </a:solidFill>
                <a:latin typeface="Calibri"/>
              </a:rPr>
              <a:t>giao diện web + nút mô phỏng tấn công</a:t>
            </a:r>
          </a:p>
        </p:txBody>
      </p:sp>
      <p:sp>
        <p:nvSpPr>
          <p:cNvPr id="6" name="Rounded Rectangle 5"/>
          <p:cNvSpPr/>
          <p:nvPr/>
        </p:nvSpPr>
        <p:spPr>
          <a:xfrm>
            <a:off x="6035040" y="1600200"/>
            <a:ext cx="5577840" cy="4480560"/>
          </a:xfrm>
          <a:prstGeom prst="roundRect">
            <a:avLst>
              <a:gd name="adj" fmla="val 5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783080"/>
            <a:ext cx="5120640" cy="411480"/>
          </a:xfrm>
          <a:prstGeom prst="rect">
            <a:avLst/>
          </a:prstGeom>
          <a:noFill/>
        </p:spPr>
        <p:txBody>
          <a:bodyPr wrap="square" anchor="t" lIns="45720" rIns="45720">
            <a:spAutoFit/>
          </a:bodyPr>
          <a:lstStyle/>
          <a:p>
            <a:pPr algn="l">
              <a:spcAft>
                <a:spcPts val="600"/>
              </a:spcAft>
            </a:pPr>
            <a:r>
              <a:rPr sz="2000" b="1" i="0">
                <a:solidFill>
                  <a:srgbClr val="FFFFFF"/>
                </a:solidFill>
                <a:latin typeface="Cambria"/>
              </a:rPr>
              <a:t>Chạy thử</a:t>
            </a:r>
          </a:p>
        </p:txBody>
      </p:sp>
      <p:sp>
        <p:nvSpPr>
          <p:cNvPr id="8" name="TextBox 7"/>
          <p:cNvSpPr txBox="1"/>
          <p:nvPr/>
        </p:nvSpPr>
        <p:spPr>
          <a:xfrm>
            <a:off x="6309360" y="2331720"/>
            <a:ext cx="5120640" cy="1828800"/>
          </a:xfrm>
          <a:prstGeom prst="rect">
            <a:avLst/>
          </a:prstGeom>
          <a:noFill/>
        </p:spPr>
        <p:txBody>
          <a:bodyPr wrap="square" anchor="t" lIns="45720" rIns="45720">
            <a:spAutoFit/>
          </a:bodyPr>
          <a:lstStyle/>
          <a:p>
            <a:pPr algn="l">
              <a:spcAft>
                <a:spcPts val="400"/>
              </a:spcAft>
            </a:pPr>
            <a:r>
              <a:rPr sz="1300" b="0" i="0">
                <a:solidFill>
                  <a:srgbClr val="DBE7FF"/>
                </a:solidFill>
                <a:latin typeface="Courier New"/>
              </a:rPr>
              <a:t>pip install flask cryptography argon2-cffi pytest</a:t>
            </a:r>
          </a:p>
          <a:p>
            <a:pPr algn="l">
              <a:spcAft>
                <a:spcPts val="400"/>
              </a:spcAft>
            </a:pPr>
            <a:r>
              <a:rPr sz="1300" b="0" i="0">
                <a:solidFill>
                  <a:srgbClr val="DBE7FF"/>
                </a:solidFill>
                <a:latin typeface="Courier New"/>
              </a:rPr>
              <a:t>cd prototype</a:t>
            </a:r>
          </a:p>
          <a:p>
            <a:pPr algn="l">
              <a:spcAft>
                <a:spcPts val="400"/>
              </a:spcAft>
            </a:pPr>
            <a:r>
              <a:rPr sz="1300" b="0" i="0">
                <a:solidFill>
                  <a:srgbClr val="DBE7FF"/>
                </a:solidFill>
                <a:latin typeface="Courier New"/>
              </a:rPr>
              <a:t>python demo_cli.py</a:t>
            </a:r>
          </a:p>
          <a:p>
            <a:pPr algn="l">
              <a:spcAft>
                <a:spcPts val="400"/>
              </a:spcAft>
            </a:pPr>
            <a:r>
              <a:rPr sz="1300" b="0" i="0">
                <a:solidFill>
                  <a:srgbClr val="DBE7FF"/>
                </a:solidFill>
                <a:latin typeface="Courier New"/>
              </a:rPr>
              <a:t>python -m pytest -v</a:t>
            </a:r>
          </a:p>
          <a:p>
            <a:pPr algn="l">
              <a:spcAft>
                <a:spcPts val="400"/>
              </a:spcAft>
            </a:pPr>
            <a:r>
              <a:rPr sz="1300" b="0" i="0">
                <a:solidFill>
                  <a:srgbClr val="DBE7FF"/>
                </a:solidFill>
                <a:latin typeface="Courier New"/>
              </a:rPr>
              <a:t>python app.py  →  127.0.0.1:5000</a:t>
            </a:r>
          </a:p>
        </p:txBody>
      </p:sp>
      <p:sp>
        <p:nvSpPr>
          <p:cNvPr id="9" name="TextBox 8"/>
          <p:cNvSpPr txBox="1"/>
          <p:nvPr/>
        </p:nvSpPr>
        <p:spPr>
          <a:xfrm>
            <a:off x="6309360" y="4251960"/>
            <a:ext cx="5120640" cy="1737360"/>
          </a:xfrm>
          <a:prstGeom prst="rect">
            <a:avLst/>
          </a:prstGeom>
          <a:noFill/>
        </p:spPr>
        <p:txBody>
          <a:bodyPr wrap="square" anchor="t" lIns="45720" rIns="45720">
            <a:spAutoFit/>
          </a:bodyPr>
          <a:lstStyle/>
          <a:p>
            <a:pPr algn="l">
              <a:spcAft>
                <a:spcPts val="600"/>
              </a:spcAft>
            </a:pPr>
            <a:r>
              <a:rPr sz="1400" b="0" i="0">
                <a:solidFill>
                  <a:srgbClr val="D7263D"/>
                </a:solidFill>
                <a:latin typeface="Calibri"/>
              </a:rPr>
              <a:t>•  </a:t>
            </a:r>
            <a:r>
              <a:rPr sz="1400" b="0" i="0">
                <a:solidFill>
                  <a:srgbClr val="FFFFFF"/>
                </a:solidFill>
                <a:latin typeface="Calibri"/>
              </a:rPr>
              <a:t>Trang đăng nhập hiển thị OTP của từng tài khoản demo</a:t>
            </a:r>
          </a:p>
          <a:p>
            <a:pPr algn="l">
              <a:spcAft>
                <a:spcPts val="600"/>
              </a:spcAft>
            </a:pPr>
            <a:r>
              <a:rPr sz="1400" b="0" i="0">
                <a:solidFill>
                  <a:srgbClr val="D7263D"/>
                </a:solidFill>
                <a:latin typeface="Calibri"/>
              </a:rPr>
              <a:t>•  </a:t>
            </a:r>
            <a:r>
              <a:rPr sz="1400" b="0" i="0">
                <a:solidFill>
                  <a:srgbClr val="FFFFFF"/>
                </a:solidFill>
                <a:latin typeface="Calibri"/>
              </a:rPr>
              <a:t>Màn hình “điện thoại” hiển thị đúng nội dung sẽ ký</a:t>
            </a:r>
          </a:p>
          <a:p>
            <a:pPr algn="l">
              <a:spcAft>
                <a:spcPts val="600"/>
              </a:spcAft>
            </a:pPr>
            <a:r>
              <a:rPr sz="1400" b="0" i="0">
                <a:solidFill>
                  <a:srgbClr val="D7263D"/>
                </a:solidFill>
                <a:latin typeface="Calibri"/>
              </a:rPr>
              <a:t>•  </a:t>
            </a:r>
            <a:r>
              <a:rPr sz="1400" b="0" i="0">
                <a:solidFill>
                  <a:srgbClr val="FFFFFF"/>
                </a:solidFill>
                <a:latin typeface="Calibri"/>
              </a:rPr>
              <a:t>Trang “Kịch bản tấn công” chạy cả 15 kịch bản</a:t>
            </a:r>
          </a:p>
        </p:txBody>
      </p:sp>
      <p:sp>
        <p:nvSpPr>
          <p:cNvPr id="10" name="TextBox 9"/>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1" name="TextBox 10"/>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Kiểm thử: 33 test case, 38/38 lượt đạt</a:t>
            </a:r>
          </a:p>
        </p:txBody>
      </p:sp>
      <p:sp>
        <p:nvSpPr>
          <p:cNvPr id="3" name="Rounded Rectangle 2"/>
          <p:cNvSpPr/>
          <p:nvPr/>
        </p:nvSpPr>
        <p:spPr>
          <a:xfrm>
            <a:off x="548640" y="1371600"/>
            <a:ext cx="3566160" cy="4709160"/>
          </a:xfrm>
          <a:prstGeom prst="roundRect">
            <a:avLst>
              <a:gd name="adj" fmla="val 5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3108960" cy="1097280"/>
          </a:xfrm>
          <a:prstGeom prst="rect">
            <a:avLst/>
          </a:prstGeom>
          <a:noFill/>
        </p:spPr>
        <p:txBody>
          <a:bodyPr wrap="square" anchor="t" lIns="45720" rIns="45720">
            <a:spAutoFit/>
          </a:bodyPr>
          <a:lstStyle/>
          <a:p>
            <a:pPr algn="l">
              <a:spcAft>
                <a:spcPts val="600"/>
              </a:spcAft>
            </a:pPr>
            <a:r>
              <a:rPr sz="6000" b="1" i="0">
                <a:solidFill>
                  <a:srgbClr val="FFFFFF"/>
                </a:solidFill>
                <a:latin typeface="Cambria"/>
              </a:rPr>
              <a:t>38/38</a:t>
            </a:r>
          </a:p>
        </p:txBody>
      </p:sp>
      <p:sp>
        <p:nvSpPr>
          <p:cNvPr id="5" name="TextBox 4"/>
          <p:cNvSpPr txBox="1"/>
          <p:nvPr/>
        </p:nvSpPr>
        <p:spPr>
          <a:xfrm>
            <a:off x="822960" y="2743200"/>
            <a:ext cx="3108960" cy="457200"/>
          </a:xfrm>
          <a:prstGeom prst="rect">
            <a:avLst/>
          </a:prstGeom>
          <a:noFill/>
        </p:spPr>
        <p:txBody>
          <a:bodyPr wrap="square" anchor="t" lIns="45720" rIns="45720">
            <a:spAutoFit/>
          </a:bodyPr>
          <a:lstStyle/>
          <a:p>
            <a:pPr algn="l">
              <a:spcAft>
                <a:spcPts val="600"/>
              </a:spcAft>
            </a:pPr>
            <a:r>
              <a:rPr sz="1600" b="0" i="0">
                <a:solidFill>
                  <a:srgbClr val="C8D3E3"/>
                </a:solidFill>
                <a:latin typeface="Calibri"/>
              </a:rPr>
              <a:t>lượt kiểm thử đạt (100%)</a:t>
            </a:r>
          </a:p>
        </p:txBody>
      </p:sp>
      <p:sp>
        <p:nvSpPr>
          <p:cNvPr id="6" name="TextBox 5"/>
          <p:cNvSpPr txBox="1"/>
          <p:nvPr/>
        </p:nvSpPr>
        <p:spPr>
          <a:xfrm>
            <a:off x="822960" y="3429000"/>
            <a:ext cx="3108960" cy="2468880"/>
          </a:xfrm>
          <a:prstGeom prst="rect">
            <a:avLst/>
          </a:prstGeom>
          <a:noFill/>
        </p:spPr>
        <p:txBody>
          <a:bodyPr wrap="square" anchor="t" lIns="45720" rIns="45720">
            <a:spAutoFit/>
          </a:bodyPr>
          <a:lstStyle/>
          <a:p>
            <a:pPr algn="l">
              <a:spcAft>
                <a:spcPts val="700"/>
              </a:spcAft>
            </a:pPr>
            <a:r>
              <a:rPr sz="1400" b="0" i="0">
                <a:solidFill>
                  <a:srgbClr val="D7263D"/>
                </a:solidFill>
                <a:latin typeface="Calibri"/>
              </a:rPr>
              <a:t>•  </a:t>
            </a:r>
            <a:r>
              <a:rPr sz="1400" b="0" i="0">
                <a:solidFill>
                  <a:srgbClr val="FFFFFF"/>
                </a:solidFill>
                <a:latin typeface="Calibri"/>
              </a:rPr>
              <a:t>6 test luồng bình thường</a:t>
            </a:r>
          </a:p>
          <a:p>
            <a:pPr algn="l">
              <a:spcAft>
                <a:spcPts val="700"/>
              </a:spcAft>
            </a:pPr>
            <a:r>
              <a:rPr sz="1400" b="0" i="0">
                <a:solidFill>
                  <a:srgbClr val="D7263D"/>
                </a:solidFill>
                <a:latin typeface="Calibri"/>
              </a:rPr>
              <a:t>•  </a:t>
            </a:r>
            <a:r>
              <a:rPr sz="1400" b="0" i="0">
                <a:solidFill>
                  <a:srgbClr val="FFFFFF"/>
                </a:solidFill>
                <a:latin typeface="Calibri"/>
              </a:rPr>
              <a:t>27 test tình huống rủi ro</a:t>
            </a:r>
          </a:p>
          <a:p>
            <a:pPr algn="l">
              <a:spcAft>
                <a:spcPts val="700"/>
              </a:spcAft>
            </a:pPr>
            <a:r>
              <a:rPr sz="1400" b="0" i="0">
                <a:solidFill>
                  <a:srgbClr val="D7263D"/>
                </a:solidFill>
                <a:latin typeface="Calibri"/>
              </a:rPr>
              <a:t>•  </a:t>
            </a:r>
            <a:r>
              <a:rPr sz="1400" b="0" i="0">
                <a:solidFill>
                  <a:srgbClr val="FFFFFF"/>
                </a:solidFill>
                <a:latin typeface="Calibri"/>
              </a:rPr>
              <a:t>Đồng hồ giả lập: hết hạn, khoá tạm, 48h chờ</a:t>
            </a:r>
          </a:p>
          <a:p>
            <a:pPr algn="l">
              <a:spcAft>
                <a:spcPts val="700"/>
              </a:spcAft>
            </a:pPr>
            <a:r>
              <a:rPr sz="1400" b="0" i="0">
                <a:solidFill>
                  <a:srgbClr val="D7263D"/>
                </a:solidFill>
                <a:latin typeface="Calibri"/>
              </a:rPr>
              <a:t>•  </a:t>
            </a:r>
            <a:r>
              <a:rPr sz="1400" b="0" i="0">
                <a:solidFill>
                  <a:srgbClr val="FFFFFF"/>
                </a:solidFill>
                <a:latin typeface="Calibri"/>
              </a:rPr>
              <a:t>Kiểm tra đúng mã lỗi chính sách</a:t>
            </a:r>
          </a:p>
        </p:txBody>
      </p:sp>
      <p:graphicFrame>
        <p:nvGraphicFramePr>
          <p:cNvPr id="7" name="Chart 6"/>
          <p:cNvGraphicFramePr>
            <a:graphicFrameLocks noGrp="1"/>
          </p:cNvGraphicFramePr>
          <p:nvPr/>
        </p:nvGraphicFramePr>
        <p:xfrm>
          <a:off x="4480560" y="1371600"/>
          <a:ext cx="7132320" cy="4709160"/>
        </p:xfrm>
        <a:graphic>
          <a:graphicData uri="http://schemas.openxmlformats.org/drawingml/2006/chart">
            <c:chart xmlns:c="http://schemas.openxmlformats.org/drawingml/2006/chart" r:id="rId2"/>
          </a:graphicData>
        </a:graphic>
      </p:graphicFrame>
      <p:sp>
        <p:nvSpPr>
          <p:cNvPr id="8" name="TextBox 7"/>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9" name="TextBox 8"/>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Trade-off: an toàn có cái giá của nó</a:t>
            </a:r>
          </a:p>
        </p:txBody>
      </p:sp>
      <p:graphicFrame>
        <p:nvGraphicFramePr>
          <p:cNvPr id="3" name="Table 2"/>
          <p:cNvGraphicFramePr>
            <a:graphicFrameLocks noGrp="1"/>
          </p:cNvGraphicFramePr>
          <p:nvPr/>
        </p:nvGraphicFramePr>
        <p:xfrm>
          <a:off x="548640" y="1325880"/>
          <a:ext cx="11064240" cy="4736592"/>
        </p:xfrm>
        <a:graphic>
          <a:graphicData uri="http://schemas.openxmlformats.org/drawingml/2006/table">
            <a:tbl>
              <a:tblPr firstRow="1" bandRow="1">
                <a:tableStyleId>{5C22544A-7EE6-4342-B048-85BDC9FD1C3A}</a:tableStyleId>
              </a:tblPr>
              <a:tblGrid>
                <a:gridCol w="2560320"/>
                <a:gridCol w="2651760"/>
                <a:gridCol w="3108960"/>
                <a:gridCol w="2743200"/>
              </a:tblGrid>
              <a:tr h="676656">
                <a:tc>
                  <a:txBody>
                    <a:bodyPr/>
                    <a:lstStyle/>
                    <a:p>
                      <a:r>
                        <a:rPr sz="1300" b="1">
                          <a:solidFill>
                            <a:srgbClr val="FFFFFF"/>
                          </a:solidFill>
                          <a:latin typeface="Calibri"/>
                        </a:rPr>
                        <a:t>Đánh đổi</a:t>
                      </a:r>
                    </a:p>
                  </a:txBody>
                  <a:tcPr marL="73152" marR="73152" marT="36576" marB="36576" anchor="ctr">
                    <a:solidFill>
                      <a:srgbClr val="13233A"/>
                    </a:solidFill>
                  </a:tcPr>
                </a:tc>
                <a:tc>
                  <a:txBody>
                    <a:bodyPr/>
                    <a:lstStyle/>
                    <a:p>
                      <a:r>
                        <a:rPr sz="1300" b="1">
                          <a:solidFill>
                            <a:srgbClr val="FFFFFF"/>
                          </a:solidFill>
                          <a:latin typeface="Calibri"/>
                        </a:rPr>
                        <a:t>Ngắn hạn</a:t>
                      </a:r>
                    </a:p>
                  </a:txBody>
                  <a:tcPr marL="73152" marR="73152" marT="36576" marB="36576" anchor="ctr">
                    <a:solidFill>
                      <a:srgbClr val="13233A"/>
                    </a:solidFill>
                  </a:tcPr>
                </a:tc>
                <a:tc>
                  <a:txBody>
                    <a:bodyPr/>
                    <a:lstStyle/>
                    <a:p>
                      <a:r>
                        <a:rPr sz="1300" b="1">
                          <a:solidFill>
                            <a:srgbClr val="FFFFFF"/>
                          </a:solidFill>
                          <a:latin typeface="Calibri"/>
                        </a:rPr>
                        <a:t>Dài hạn</a:t>
                      </a:r>
                    </a:p>
                  </a:txBody>
                  <a:tcPr marL="73152" marR="73152" marT="36576" marB="36576" anchor="ctr">
                    <a:solidFill>
                      <a:srgbClr val="13233A"/>
                    </a:solidFill>
                  </a:tcPr>
                </a:tc>
                <a:tc>
                  <a:txBody>
                    <a:bodyPr/>
                    <a:lstStyle/>
                    <a:p>
                      <a:r>
                        <a:rPr sz="1300" b="1">
                          <a:solidFill>
                            <a:srgbClr val="FFFFFF"/>
                          </a:solidFill>
                          <a:latin typeface="Calibri"/>
                        </a:rPr>
                        <a:t>Quyết định</a:t>
                      </a:r>
                    </a:p>
                  </a:txBody>
                  <a:tcPr marL="73152" marR="73152" marT="36576" marB="36576" anchor="ctr">
                    <a:solidFill>
                      <a:srgbClr val="13233A"/>
                    </a:solidFill>
                  </a:tcPr>
                </a:tc>
              </a:tr>
              <a:tr h="676656">
                <a:tc>
                  <a:txBody>
                    <a:bodyPr/>
                    <a:lstStyle/>
                    <a:p>
                      <a:r>
                        <a:rPr sz="1300" b="0">
                          <a:solidFill>
                            <a:srgbClr val="1D2433"/>
                          </a:solidFill>
                          <a:latin typeface="Calibri"/>
                        </a:rPr>
                        <a:t>Duyệt nhiều lớp, gọi lại</a:t>
                      </a:r>
                    </a:p>
                  </a:txBody>
                  <a:tcPr marL="73152" marR="73152" marT="36576" marB="36576" anchor="ctr">
                    <a:solidFill>
                      <a:srgbClr val="FFFFFF"/>
                    </a:solidFill>
                  </a:tcPr>
                </a:tc>
                <a:tc>
                  <a:txBody>
                    <a:bodyPr/>
                    <a:lstStyle/>
                    <a:p>
                      <a:r>
                        <a:rPr sz="1300" b="0">
                          <a:solidFill>
                            <a:srgbClr val="1D2433"/>
                          </a:solidFill>
                          <a:latin typeface="Calibri"/>
                        </a:rPr>
                        <a:t>Chậm lệnh gấp, người dùng phản ứng</a:t>
                      </a:r>
                    </a:p>
                  </a:txBody>
                  <a:tcPr marL="73152" marR="73152" marT="36576" marB="36576" anchor="ctr">
                    <a:solidFill>
                      <a:srgbClr val="FFFFFF"/>
                    </a:solidFill>
                  </a:tcPr>
                </a:tc>
                <a:tc>
                  <a:txBody>
                    <a:bodyPr/>
                    <a:lstStyle/>
                    <a:p>
                      <a:r>
                        <a:rPr sz="1300" b="0">
                          <a:solidFill>
                            <a:srgbClr val="1D2433"/>
                          </a:solidFill>
                          <a:latin typeface="Calibri"/>
                        </a:rPr>
                        <a:t>Thành thói quen; nhân viên có lý do để từ chối “sếp”</a:t>
                      </a:r>
                    </a:p>
                  </a:txBody>
                  <a:tcPr marL="73152" marR="73152" marT="36576" marB="36576" anchor="ctr">
                    <a:solidFill>
                      <a:srgbClr val="FFFFFF"/>
                    </a:solidFill>
                  </a:tcPr>
                </a:tc>
                <a:tc>
                  <a:txBody>
                    <a:bodyPr/>
                    <a:lstStyle/>
                    <a:p>
                      <a:r>
                        <a:rPr sz="1300" b="0">
                          <a:solidFill>
                            <a:srgbClr val="1D2433"/>
                          </a:solidFill>
                          <a:latin typeface="Calibri"/>
                        </a:rPr>
                        <a:t>Chỉ kích hoạt theo rủi ro</a:t>
                      </a:r>
                    </a:p>
                  </a:txBody>
                  <a:tcPr marL="73152" marR="73152" marT="36576" marB="36576" anchor="ctr">
                    <a:solidFill>
                      <a:srgbClr val="E3F4F0"/>
                    </a:solidFill>
                  </a:tcPr>
                </a:tc>
              </a:tr>
              <a:tr h="676656">
                <a:tc>
                  <a:txBody>
                    <a:bodyPr/>
                    <a:lstStyle/>
                    <a:p>
                      <a:r>
                        <a:rPr sz="1300" b="0">
                          <a:solidFill>
                            <a:srgbClr val="1D2433"/>
                          </a:solidFill>
                          <a:latin typeface="Calibri"/>
                        </a:rPr>
                        <a:t>48 giờ chờ khi đổi STK</a:t>
                      </a:r>
                    </a:p>
                  </a:txBody>
                  <a:tcPr marL="73152" marR="73152" marT="36576" marB="36576" anchor="ctr">
                    <a:solidFill>
                      <a:srgbClr val="F1F4F8"/>
                    </a:solidFill>
                  </a:tcPr>
                </a:tc>
                <a:tc>
                  <a:txBody>
                    <a:bodyPr/>
                    <a:lstStyle/>
                    <a:p>
                      <a:r>
                        <a:rPr sz="1300" b="0">
                          <a:solidFill>
                            <a:srgbClr val="1D2433"/>
                          </a:solidFill>
                          <a:latin typeface="Calibri"/>
                        </a:rPr>
                        <a:t>Có thể trễ hạn thanh toán</a:t>
                      </a:r>
                    </a:p>
                  </a:txBody>
                  <a:tcPr marL="73152" marR="73152" marT="36576" marB="36576" anchor="ctr">
                    <a:solidFill>
                      <a:srgbClr val="F1F4F8"/>
                    </a:solidFill>
                  </a:tcPr>
                </a:tc>
                <a:tc>
                  <a:txBody>
                    <a:bodyPr/>
                    <a:lstStyle/>
                    <a:p>
                      <a:r>
                        <a:rPr sz="1300" b="0">
                          <a:solidFill>
                            <a:srgbClr val="1D2433"/>
                          </a:solidFill>
                          <a:latin typeface="Calibri"/>
                        </a:rPr>
                        <a:t>Chặn gần như toàn bộ BEC đổi tài khoản</a:t>
                      </a:r>
                    </a:p>
                  </a:txBody>
                  <a:tcPr marL="73152" marR="73152" marT="36576" marB="36576" anchor="ctr">
                    <a:solidFill>
                      <a:srgbClr val="F1F4F8"/>
                    </a:solidFill>
                  </a:tcPr>
                </a:tc>
                <a:tc>
                  <a:txBody>
                    <a:bodyPr/>
                    <a:lstStyle/>
                    <a:p>
                      <a:r>
                        <a:rPr sz="1300" b="0">
                          <a:solidFill>
                            <a:srgbClr val="1D2433"/>
                          </a:solidFill>
                          <a:latin typeface="Calibri"/>
                        </a:rPr>
                        <a:t>Giữ; báo NCC từ khi ký HĐ</a:t>
                      </a:r>
                    </a:p>
                  </a:txBody>
                  <a:tcPr marL="73152" marR="73152" marT="36576" marB="36576" anchor="ctr">
                    <a:solidFill>
                      <a:srgbClr val="E3F4F0"/>
                    </a:solidFill>
                  </a:tcPr>
                </a:tc>
              </a:tr>
              <a:tr h="676656">
                <a:tc>
                  <a:txBody>
                    <a:bodyPr/>
                    <a:lstStyle/>
                    <a:p>
                      <a:r>
                        <a:rPr sz="1300" b="0">
                          <a:solidFill>
                            <a:srgbClr val="1D2433"/>
                          </a:solidFill>
                          <a:latin typeface="Calibri"/>
                        </a:rPr>
                        <a:t>Chữ ký thiết bị</a:t>
                      </a:r>
                    </a:p>
                  </a:txBody>
                  <a:tcPr marL="73152" marR="73152" marT="36576" marB="36576" anchor="ctr">
                    <a:solidFill>
                      <a:srgbClr val="FFFFFF"/>
                    </a:solidFill>
                  </a:tcPr>
                </a:tc>
                <a:tc>
                  <a:txBody>
                    <a:bodyPr/>
                    <a:lstStyle/>
                    <a:p>
                      <a:r>
                        <a:rPr sz="1300" b="0">
                          <a:solidFill>
                            <a:srgbClr val="1D2433"/>
                          </a:solidFill>
                          <a:latin typeface="Calibri"/>
                        </a:rPr>
                        <a:t>Chi phí làm app, đào tạo</a:t>
                      </a:r>
                    </a:p>
                  </a:txBody>
                  <a:tcPr marL="73152" marR="73152" marT="36576" marB="36576" anchor="ctr">
                    <a:solidFill>
                      <a:srgbClr val="FFFFFF"/>
                    </a:solidFill>
                  </a:tcPr>
                </a:tc>
                <a:tc>
                  <a:txBody>
                    <a:bodyPr/>
                    <a:lstStyle/>
                    <a:p>
                      <a:r>
                        <a:rPr sz="1300" b="0">
                          <a:solidFill>
                            <a:srgbClr val="1D2433"/>
                          </a:solidFill>
                          <a:latin typeface="Calibri"/>
                        </a:rPr>
                        <a:t>Vận hành rẻ, an toàn bền vững</a:t>
                      </a:r>
                    </a:p>
                  </a:txBody>
                  <a:tcPr marL="73152" marR="73152" marT="36576" marB="36576" anchor="ctr">
                    <a:solidFill>
                      <a:srgbClr val="FFFFFF"/>
                    </a:solidFill>
                  </a:tcPr>
                </a:tc>
                <a:tc>
                  <a:txBody>
                    <a:bodyPr/>
                    <a:lstStyle/>
                    <a:p>
                      <a:r>
                        <a:rPr sz="1300" b="0">
                          <a:solidFill>
                            <a:srgbClr val="1D2433"/>
                          </a:solidFill>
                          <a:latin typeface="Calibri"/>
                        </a:rPr>
                        <a:t>App điện thoại; FIDO2 cho GĐ</a:t>
                      </a:r>
                    </a:p>
                  </a:txBody>
                  <a:tcPr marL="73152" marR="73152" marT="36576" marB="36576" anchor="ctr">
                    <a:solidFill>
                      <a:srgbClr val="E3F4F0"/>
                    </a:solidFill>
                  </a:tcPr>
                </a:tc>
              </a:tr>
              <a:tr h="676656">
                <a:tc>
                  <a:txBody>
                    <a:bodyPr/>
                    <a:lstStyle/>
                    <a:p>
                      <a:r>
                        <a:rPr sz="1300" b="0">
                          <a:solidFill>
                            <a:srgbClr val="1D2433"/>
                          </a:solidFill>
                          <a:latin typeface="Calibri"/>
                        </a:rPr>
                        <a:t>Luật vs AI phát hiện deepfake</a:t>
                      </a:r>
                    </a:p>
                  </a:txBody>
                  <a:tcPr marL="73152" marR="73152" marT="36576" marB="36576" anchor="ctr">
                    <a:solidFill>
                      <a:srgbClr val="F1F4F8"/>
                    </a:solidFill>
                  </a:tcPr>
                </a:tc>
                <a:tc>
                  <a:txBody>
                    <a:bodyPr/>
                    <a:lstStyle/>
                    <a:p>
                      <a:r>
                        <a:rPr sz="1300" b="0">
                          <a:solidFill>
                            <a:srgbClr val="1D2433"/>
                          </a:solidFill>
                          <a:latin typeface="Calibri"/>
                        </a:rPr>
                        <a:t>Luật đơn giản, đôi khi báo nhầm</a:t>
                      </a:r>
                    </a:p>
                  </a:txBody>
                  <a:tcPr marL="73152" marR="73152" marT="36576" marB="36576" anchor="ctr">
                    <a:solidFill>
                      <a:srgbClr val="F1F4F8"/>
                    </a:solidFill>
                  </a:tcPr>
                </a:tc>
                <a:tc>
                  <a:txBody>
                    <a:bodyPr/>
                    <a:lstStyle/>
                    <a:p>
                      <a:r>
                        <a:rPr sz="1300" b="0">
                          <a:solidFill>
                            <a:srgbClr val="1D2433"/>
                          </a:solidFill>
                          <a:latin typeface="Calibri"/>
                        </a:rPr>
                        <a:t>AI lỗi thời nhanh, khó giải thích</a:t>
                      </a:r>
                    </a:p>
                  </a:txBody>
                  <a:tcPr marL="73152" marR="73152" marT="36576" marB="36576" anchor="ctr">
                    <a:solidFill>
                      <a:srgbClr val="F1F4F8"/>
                    </a:solidFill>
                  </a:tcPr>
                </a:tc>
                <a:tc>
                  <a:txBody>
                    <a:bodyPr/>
                    <a:lstStyle/>
                    <a:p>
                      <a:r>
                        <a:rPr sz="1300" b="0">
                          <a:solidFill>
                            <a:srgbClr val="1D2433"/>
                          </a:solidFill>
                          <a:latin typeface="Calibri"/>
                        </a:rPr>
                        <a:t>Luật quyết định; AI chỉ cộng điểm</a:t>
                      </a:r>
                    </a:p>
                  </a:txBody>
                  <a:tcPr marL="73152" marR="73152" marT="36576" marB="36576" anchor="ctr">
                    <a:solidFill>
                      <a:srgbClr val="E3F4F0"/>
                    </a:solidFill>
                  </a:tcPr>
                </a:tc>
              </a:tr>
              <a:tr h="676656">
                <a:tc>
                  <a:txBody>
                    <a:bodyPr/>
                    <a:lstStyle/>
                    <a:p>
                      <a:r>
                        <a:rPr sz="1300" b="0">
                          <a:solidFill>
                            <a:srgbClr val="1D2433"/>
                          </a:solidFill>
                          <a:latin typeface="Calibri"/>
                        </a:rPr>
                        <a:t>Nhật ký đầy đủ vs riêng tư</a:t>
                      </a:r>
                    </a:p>
                  </a:txBody>
                  <a:tcPr marL="73152" marR="73152" marT="36576" marB="36576" anchor="ctr">
                    <a:solidFill>
                      <a:srgbClr val="FFFFFF"/>
                    </a:solidFill>
                  </a:tcPr>
                </a:tc>
                <a:tc>
                  <a:txBody>
                    <a:bodyPr/>
                    <a:lstStyle/>
                    <a:p>
                      <a:r>
                        <a:rPr sz="1300" b="0">
                          <a:solidFill>
                            <a:srgbClr val="1D2433"/>
                          </a:solidFill>
                          <a:latin typeface="Calibri"/>
                        </a:rPr>
                        <a:t>Điều tra dễ</a:t>
                      </a:r>
                    </a:p>
                  </a:txBody>
                  <a:tcPr marL="73152" marR="73152" marT="36576" marB="36576" anchor="ctr">
                    <a:solidFill>
                      <a:srgbClr val="FFFFFF"/>
                    </a:solidFill>
                  </a:tcPr>
                </a:tc>
                <a:tc>
                  <a:txBody>
                    <a:bodyPr/>
                    <a:lstStyle/>
                    <a:p>
                      <a:r>
                        <a:rPr sz="1300" b="0">
                          <a:solidFill>
                            <a:srgbClr val="1D2433"/>
                          </a:solidFill>
                          <a:latin typeface="Calibri"/>
                        </a:rPr>
                        <a:t>Kho dữ liệu dễ bị lạm dụng</a:t>
                      </a:r>
                    </a:p>
                  </a:txBody>
                  <a:tcPr marL="73152" marR="73152" marT="36576" marB="36576" anchor="ctr">
                    <a:solidFill>
                      <a:srgbClr val="FFFFFF"/>
                    </a:solidFill>
                  </a:tcPr>
                </a:tc>
                <a:tc>
                  <a:txBody>
                    <a:bodyPr/>
                    <a:lstStyle/>
                    <a:p>
                      <a:r>
                        <a:rPr sz="1300" b="0">
                          <a:solidFill>
                            <a:srgbClr val="1D2433"/>
                          </a:solidFill>
                          <a:latin typeface="Calibri"/>
                        </a:rPr>
                        <a:t>Thu thập tối thiểu, có hạn lưu</a:t>
                      </a:r>
                    </a:p>
                  </a:txBody>
                  <a:tcPr marL="73152" marR="73152" marT="36576" marB="36576" anchor="ctr">
                    <a:solidFill>
                      <a:srgbClr val="E3F4F0"/>
                    </a:solidFill>
                  </a:tcPr>
                </a:tc>
              </a:tr>
              <a:tr h="676656">
                <a:tc>
                  <a:txBody>
                    <a:bodyPr/>
                    <a:lstStyle/>
                    <a:p>
                      <a:r>
                        <a:rPr sz="1300" b="0">
                          <a:solidFill>
                            <a:srgbClr val="1D2433"/>
                          </a:solidFill>
                          <a:latin typeface="Calibri"/>
                        </a:rPr>
                        <a:t>Tích hợp ngân hàng</a:t>
                      </a:r>
                    </a:p>
                  </a:txBody>
                  <a:tcPr marL="73152" marR="73152" marT="36576" marB="36576" anchor="ctr">
                    <a:solidFill>
                      <a:srgbClr val="F1F4F8"/>
                    </a:solidFill>
                  </a:tcPr>
                </a:tc>
                <a:tc>
                  <a:txBody>
                    <a:bodyPr/>
                    <a:lstStyle/>
                    <a:p>
                      <a:r>
                        <a:rPr sz="1300" b="0">
                          <a:solidFill>
                            <a:srgbClr val="1D2433"/>
                          </a:solidFill>
                          <a:latin typeface="Calibri"/>
                        </a:rPr>
                        <a:t>Lớp duyệt riêng + đối soát</a:t>
                      </a:r>
                    </a:p>
                  </a:txBody>
                  <a:tcPr marL="73152" marR="73152" marT="36576" marB="36576" anchor="ctr">
                    <a:solidFill>
                      <a:srgbClr val="F1F4F8"/>
                    </a:solidFill>
                  </a:tcPr>
                </a:tc>
                <a:tc>
                  <a:txBody>
                    <a:bodyPr/>
                    <a:lstStyle/>
                    <a:p>
                      <a:r>
                        <a:rPr sz="1300" b="0">
                          <a:solidFill>
                            <a:srgbClr val="1D2433"/>
                          </a:solidFill>
                          <a:latin typeface="Calibri"/>
                        </a:rPr>
                        <a:t>API ngân hàng trực tiếp</a:t>
                      </a:r>
                    </a:p>
                  </a:txBody>
                  <a:tcPr marL="73152" marR="73152" marT="36576" marB="36576" anchor="ctr">
                    <a:solidFill>
                      <a:srgbClr val="F1F4F8"/>
                    </a:solidFill>
                  </a:tcPr>
                </a:tc>
                <a:tc>
                  <a:txBody>
                    <a:bodyPr/>
                    <a:lstStyle/>
                    <a:p>
                      <a:r>
                        <a:rPr sz="1300" b="0">
                          <a:solidFill>
                            <a:srgbClr val="1D2433"/>
                          </a:solidFill>
                          <a:latin typeface="Calibri"/>
                        </a:rPr>
                        <a:t>Triển khai 2 giai đoạn</a:t>
                      </a:r>
                    </a:p>
                  </a:txBody>
                  <a:tcPr marL="73152" marR="73152" marT="36576" marB="36576" anchor="ctr">
                    <a:solidFill>
                      <a:srgbClr val="E3F4F0"/>
                    </a:solidFill>
                  </a:tcPr>
                </a:tc>
              </a:tr>
            </a:tbl>
          </a:graphicData>
        </a:graphic>
      </p:graphicFrame>
      <p:sp>
        <p:nvSpPr>
          <p:cNvPr id="4" name="TextBox 3"/>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5" name="TextBox 4"/>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45720" rIns="45720">
            <a:spAutoFit/>
          </a:bodyPr>
          <a:lstStyle/>
          <a:p>
            <a:pPr algn="l">
              <a:spcAft>
                <a:spcPts val="600"/>
              </a:spcAft>
            </a:pPr>
            <a:r>
              <a:rPr sz="3400" b="1" i="0">
                <a:solidFill>
                  <a:srgbClr val="13233A"/>
                </a:solidFill>
                <a:latin typeface="Cambria"/>
              </a:rPr>
              <a:t>Hạn chế và hướng phát triển</a:t>
            </a:r>
          </a:p>
        </p:txBody>
      </p:sp>
      <p:sp>
        <p:nvSpPr>
          <p:cNvPr id="3" name="Rounded Rectangle 2"/>
          <p:cNvSpPr/>
          <p:nvPr/>
        </p:nvSpPr>
        <p:spPr>
          <a:xfrm>
            <a:off x="548640" y="1371600"/>
            <a:ext cx="5394960" cy="46634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600200"/>
            <a:ext cx="502920" cy="50292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5" name="TextBox 4"/>
          <p:cNvSpPr txBox="1"/>
          <p:nvPr/>
        </p:nvSpPr>
        <p:spPr>
          <a:xfrm>
            <a:off x="1417319" y="157276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Hạn chế</a:t>
            </a:r>
          </a:p>
        </p:txBody>
      </p:sp>
      <p:sp>
        <p:nvSpPr>
          <p:cNvPr id="6" name="TextBox 5"/>
          <p:cNvSpPr txBox="1"/>
          <p:nvPr/>
        </p:nvSpPr>
        <p:spPr>
          <a:xfrm>
            <a:off x="777240" y="2240280"/>
            <a:ext cx="4937760" cy="3657599"/>
          </a:xfrm>
          <a:prstGeom prst="rect">
            <a:avLst/>
          </a:prstGeom>
          <a:noFill/>
        </p:spPr>
        <p:txBody>
          <a:bodyPr wrap="square" anchor="t" lIns="45720" rIns="45720">
            <a:spAutoFit/>
          </a:bodyPr>
          <a:lstStyle/>
          <a:p>
            <a:pPr algn="l">
              <a:spcAft>
                <a:spcPts val="1400"/>
              </a:spcAft>
            </a:pPr>
            <a:r>
              <a:rPr sz="1700" b="0" i="0">
                <a:solidFill>
                  <a:srgbClr val="D7263D"/>
                </a:solidFill>
                <a:latin typeface="Calibri"/>
              </a:rPr>
              <a:t>•  </a:t>
            </a:r>
            <a:r>
              <a:rPr sz="1700" b="0" i="0">
                <a:solidFill>
                  <a:srgbClr val="1D2433"/>
                </a:solidFill>
                <a:latin typeface="Calibri"/>
              </a:rPr>
              <a:t>Phụ thuộc chất lượng sổ đăng ký ban đầu</a:t>
            </a:r>
          </a:p>
          <a:p>
            <a:pPr algn="l">
              <a:spcAft>
                <a:spcPts val="1400"/>
              </a:spcAft>
            </a:pPr>
            <a:r>
              <a:rPr sz="1700" b="0" i="0">
                <a:solidFill>
                  <a:srgbClr val="D7263D"/>
                </a:solidFill>
                <a:latin typeface="Calibri"/>
              </a:rPr>
              <a:t>•  </a:t>
            </a:r>
            <a:r>
              <a:rPr sz="1700" b="0" i="0">
                <a:solidFill>
                  <a:srgbClr val="1D2433"/>
                </a:solidFill>
                <a:latin typeface="Calibri"/>
              </a:rPr>
              <a:t>Không chống được thông đồng của đủ số người duyệt</a:t>
            </a:r>
          </a:p>
          <a:p>
            <a:pPr algn="l">
              <a:spcAft>
                <a:spcPts val="1400"/>
              </a:spcAft>
            </a:pPr>
            <a:r>
              <a:rPr sz="1700" b="0" i="0">
                <a:solidFill>
                  <a:srgbClr val="D7263D"/>
                </a:solidFill>
                <a:latin typeface="Calibri"/>
              </a:rPr>
              <a:t>•  </a:t>
            </a:r>
            <a:r>
              <a:rPr sz="1700" b="0" i="0">
                <a:solidFill>
                  <a:srgbClr val="1D2433"/>
                </a:solidFill>
                <a:latin typeface="Calibri"/>
              </a:rPr>
              <a:t>Lệnh &lt; 50 triệu chỉ cần 1 người duyệt</a:t>
            </a:r>
          </a:p>
          <a:p>
            <a:pPr algn="l">
              <a:spcAft>
                <a:spcPts val="1400"/>
              </a:spcAft>
            </a:pPr>
            <a:r>
              <a:rPr sz="1700" b="0" i="0">
                <a:solidFill>
                  <a:srgbClr val="D7263D"/>
                </a:solidFill>
                <a:latin typeface="Calibri"/>
              </a:rPr>
              <a:t>•  </a:t>
            </a:r>
            <a:r>
              <a:rPr sz="1700" b="0" i="0">
                <a:solidFill>
                  <a:srgbClr val="1D2433"/>
                </a:solidFill>
                <a:latin typeface="Calibri"/>
              </a:rPr>
              <a:t>Kết quả gọi lại do con người khai</a:t>
            </a:r>
          </a:p>
          <a:p>
            <a:pPr algn="l">
              <a:spcAft>
                <a:spcPts val="1400"/>
              </a:spcAft>
            </a:pPr>
            <a:r>
              <a:rPr sz="1700" b="0" i="0">
                <a:solidFill>
                  <a:srgbClr val="D7263D"/>
                </a:solidFill>
                <a:latin typeface="Calibri"/>
              </a:rPr>
              <a:t>•  </a:t>
            </a:r>
            <a:r>
              <a:rPr sz="1700" b="0" i="0">
                <a:solidFill>
                  <a:srgbClr val="1D2433"/>
                </a:solidFill>
                <a:latin typeface="Calibri"/>
              </a:rPr>
              <a:t>Prototype: lưu bộ nhớ, chưa HTTPS, HSM, app thật</a:t>
            </a:r>
          </a:p>
        </p:txBody>
      </p:sp>
      <p:sp>
        <p:nvSpPr>
          <p:cNvPr id="7" name="Rounded Rectangle 6"/>
          <p:cNvSpPr/>
          <p:nvPr/>
        </p:nvSpPr>
        <p:spPr>
          <a:xfrm>
            <a:off x="6217920" y="1371600"/>
            <a:ext cx="5394960" cy="46634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1600200"/>
            <a:ext cx="502920" cy="50292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9" name="TextBox 8"/>
          <p:cNvSpPr txBox="1"/>
          <p:nvPr/>
        </p:nvSpPr>
        <p:spPr>
          <a:xfrm>
            <a:off x="7086600" y="1572768"/>
            <a:ext cx="4343400" cy="548640"/>
          </a:xfrm>
          <a:prstGeom prst="rect">
            <a:avLst/>
          </a:prstGeom>
          <a:noFill/>
        </p:spPr>
        <p:txBody>
          <a:bodyPr wrap="square" anchor="ctr" lIns="45720" rIns="45720">
            <a:spAutoFit/>
          </a:bodyPr>
          <a:lstStyle/>
          <a:p>
            <a:pPr algn="l">
              <a:spcAft>
                <a:spcPts val="600"/>
              </a:spcAft>
            </a:pPr>
            <a:r>
              <a:rPr sz="1700" b="1" i="0">
                <a:solidFill>
                  <a:srgbClr val="1D2433"/>
                </a:solidFill>
                <a:latin typeface="Cambria"/>
              </a:rPr>
              <a:t>Hướng phát triển</a:t>
            </a:r>
          </a:p>
        </p:txBody>
      </p:sp>
      <p:sp>
        <p:nvSpPr>
          <p:cNvPr id="10" name="TextBox 9"/>
          <p:cNvSpPr txBox="1"/>
          <p:nvPr/>
        </p:nvSpPr>
        <p:spPr>
          <a:xfrm>
            <a:off x="6446520" y="2240280"/>
            <a:ext cx="4937760" cy="3657599"/>
          </a:xfrm>
          <a:prstGeom prst="rect">
            <a:avLst/>
          </a:prstGeom>
          <a:noFill/>
        </p:spPr>
        <p:txBody>
          <a:bodyPr wrap="square" anchor="t" lIns="45720" rIns="45720">
            <a:spAutoFit/>
          </a:bodyPr>
          <a:lstStyle/>
          <a:p>
            <a:pPr algn="l">
              <a:spcAft>
                <a:spcPts val="1400"/>
              </a:spcAft>
            </a:pPr>
            <a:r>
              <a:rPr sz="1700" b="0" i="0">
                <a:solidFill>
                  <a:srgbClr val="D7263D"/>
                </a:solidFill>
                <a:latin typeface="Calibri"/>
              </a:rPr>
              <a:t>•  </a:t>
            </a:r>
            <a:r>
              <a:rPr sz="1700" b="0" i="0">
                <a:solidFill>
                  <a:srgbClr val="1D2433"/>
                </a:solidFill>
                <a:latin typeface="Calibri"/>
              </a:rPr>
              <a:t>App di động với passkey/FIDO2, Secure Enclave</a:t>
            </a:r>
          </a:p>
          <a:p>
            <a:pPr algn="l">
              <a:spcAft>
                <a:spcPts val="1400"/>
              </a:spcAft>
            </a:pPr>
            <a:r>
              <a:rPr sz="1700" b="0" i="0">
                <a:solidFill>
                  <a:srgbClr val="D7263D"/>
                </a:solidFill>
                <a:latin typeface="Calibri"/>
              </a:rPr>
              <a:t>•  </a:t>
            </a:r>
            <a:r>
              <a:rPr sz="1700" b="0" i="0">
                <a:solidFill>
                  <a:srgbClr val="1D2433"/>
                </a:solidFill>
                <a:latin typeface="Calibri"/>
              </a:rPr>
              <a:t>Xác nhận tự động trên app của người được nêu tên</a:t>
            </a:r>
          </a:p>
          <a:p>
            <a:pPr algn="l">
              <a:spcAft>
                <a:spcPts val="1400"/>
              </a:spcAft>
            </a:pPr>
            <a:r>
              <a:rPr sz="1700" b="0" i="0">
                <a:solidFill>
                  <a:srgbClr val="D7263D"/>
                </a:solidFill>
                <a:latin typeface="Calibri"/>
              </a:rPr>
              <a:t>•  </a:t>
            </a:r>
            <a:r>
              <a:rPr sz="1700" b="0" i="0">
                <a:solidFill>
                  <a:srgbClr val="1D2433"/>
                </a:solidFill>
                <a:latin typeface="Calibri"/>
              </a:rPr>
              <a:t>Đối chiếu hoá đơn điện tử, tên chủ tài khoản</a:t>
            </a:r>
          </a:p>
          <a:p>
            <a:pPr algn="l">
              <a:spcAft>
                <a:spcPts val="1400"/>
              </a:spcAft>
            </a:pPr>
            <a:r>
              <a:rPr sz="1700" b="0" i="0">
                <a:solidFill>
                  <a:srgbClr val="D7263D"/>
                </a:solidFill>
                <a:latin typeface="Calibri"/>
              </a:rPr>
              <a:t>•  </a:t>
            </a:r>
            <a:r>
              <a:rPr sz="1700" b="0" i="0">
                <a:solidFill>
                  <a:srgbClr val="1D2433"/>
                </a:solidFill>
                <a:latin typeface="Calibri"/>
              </a:rPr>
              <a:t>Học máy phát hiện bất thường (chỉ cộng điểm)</a:t>
            </a:r>
          </a:p>
          <a:p>
            <a:pPr algn="l">
              <a:spcAft>
                <a:spcPts val="1400"/>
              </a:spcAft>
            </a:pPr>
            <a:r>
              <a:rPr sz="1700" b="0" i="0">
                <a:solidFill>
                  <a:srgbClr val="D7263D"/>
                </a:solidFill>
                <a:latin typeface="Calibri"/>
              </a:rPr>
              <a:t>•  </a:t>
            </a:r>
            <a:r>
              <a:rPr sz="1700" b="0" i="0">
                <a:solidFill>
                  <a:srgbClr val="1D2433"/>
                </a:solidFill>
                <a:latin typeface="Calibri"/>
              </a:rPr>
              <a:t>Mốc neo nhật ký lên Object Lock / RFC 3161</a:t>
            </a:r>
          </a:p>
        </p:txBody>
      </p:sp>
      <p:sp>
        <p:nvSpPr>
          <p:cNvPr id="11" name="TextBox 10"/>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5B667A"/>
                </a:solidFill>
                <a:latin typeface="Calibri"/>
              </a:rPr>
              <a:t>SafePay Guard · Đồ án Bảo mật mạng máy tính và hệ thống</a:t>
            </a:r>
          </a:p>
        </p:txBody>
      </p:sp>
      <p:sp>
        <p:nvSpPr>
          <p:cNvPr id="12" name="TextBox 11"/>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5B667A"/>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233A"/>
        </a:solidFill>
        <a:effectLst/>
      </p:bgPr>
    </p:bg>
    <p:spTree>
      <p:nvGrpSpPr>
        <p:cNvPr id="1" name=""/>
        <p:cNvGrpSpPr/>
        <p:nvPr/>
      </p:nvGrpSpPr>
      <p:grpSpPr/>
      <p:sp>
        <p:nvSpPr>
          <p:cNvPr id="2" name="TextBox 1"/>
          <p:cNvSpPr txBox="1"/>
          <p:nvPr/>
        </p:nvSpPr>
        <p:spPr>
          <a:xfrm>
            <a:off x="548640" y="548640"/>
            <a:ext cx="11064240" cy="822960"/>
          </a:xfrm>
          <a:prstGeom prst="rect">
            <a:avLst/>
          </a:prstGeom>
          <a:noFill/>
        </p:spPr>
        <p:txBody>
          <a:bodyPr wrap="square" anchor="t" lIns="45720" rIns="45720">
            <a:spAutoFit/>
          </a:bodyPr>
          <a:lstStyle/>
          <a:p>
            <a:pPr algn="l">
              <a:spcAft>
                <a:spcPts val="600"/>
              </a:spcAft>
            </a:pPr>
            <a:r>
              <a:rPr sz="4000" b="1" i="0">
                <a:solidFill>
                  <a:srgbClr val="FFFFFF"/>
                </a:solidFill>
                <a:latin typeface="Cambria"/>
              </a:rPr>
              <a:t>Kết luận</a:t>
            </a:r>
          </a:p>
        </p:txBody>
      </p:sp>
      <p:sp>
        <p:nvSpPr>
          <p:cNvPr id="3" name="Oval 2"/>
          <p:cNvSpPr/>
          <p:nvPr/>
        </p:nvSpPr>
        <p:spPr>
          <a:xfrm>
            <a:off x="640080" y="1691640"/>
            <a:ext cx="594360" cy="5943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463040" y="1645920"/>
            <a:ext cx="9966960" cy="411480"/>
          </a:xfrm>
          <a:prstGeom prst="rect">
            <a:avLst/>
          </a:prstGeom>
          <a:noFill/>
        </p:spPr>
        <p:txBody>
          <a:bodyPr wrap="square" anchor="t" lIns="45720" rIns="45720">
            <a:spAutoFit/>
          </a:bodyPr>
          <a:lstStyle/>
          <a:p>
            <a:pPr algn="l">
              <a:spcAft>
                <a:spcPts val="600"/>
              </a:spcAft>
            </a:pPr>
            <a:r>
              <a:rPr sz="2000" b="1" i="0">
                <a:solidFill>
                  <a:srgbClr val="FFFFFF"/>
                </a:solidFill>
                <a:latin typeface="Cambria"/>
              </a:rPr>
              <a:t>Chuyển gốc rễ của niềm tin</a:t>
            </a:r>
          </a:p>
        </p:txBody>
      </p:sp>
      <p:sp>
        <p:nvSpPr>
          <p:cNvPr id="5" name="TextBox 4"/>
          <p:cNvSpPr txBox="1"/>
          <p:nvPr/>
        </p:nvSpPr>
        <p:spPr>
          <a:xfrm>
            <a:off x="1463040" y="2075688"/>
            <a:ext cx="9966960" cy="548640"/>
          </a:xfrm>
          <a:prstGeom prst="rect">
            <a:avLst/>
          </a:prstGeom>
          <a:noFill/>
        </p:spPr>
        <p:txBody>
          <a:bodyPr wrap="square" anchor="t" lIns="45720" rIns="45720">
            <a:spAutoFit/>
          </a:bodyPr>
          <a:lstStyle/>
          <a:p>
            <a:pPr algn="l">
              <a:spcAft>
                <a:spcPts val="600"/>
              </a:spcAft>
            </a:pPr>
            <a:r>
              <a:rPr sz="1600" b="0" i="0">
                <a:solidFill>
                  <a:srgbClr val="C8D3E3"/>
                </a:solidFill>
                <a:latin typeface="Calibri"/>
              </a:rPr>
              <a:t>từ thứ “trông có vẻ thật” sang chữ ký số, dữ liệu gốc đã xác minh và kênh xác minh độc lập</a:t>
            </a:r>
          </a:p>
        </p:txBody>
      </p:sp>
      <p:sp>
        <p:nvSpPr>
          <p:cNvPr id="6" name="Oval 5"/>
          <p:cNvSpPr/>
          <p:nvPr/>
        </p:nvSpPr>
        <p:spPr>
          <a:xfrm>
            <a:off x="640080" y="2926080"/>
            <a:ext cx="594360" cy="5943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7" name="TextBox 6"/>
          <p:cNvSpPr txBox="1"/>
          <p:nvPr/>
        </p:nvSpPr>
        <p:spPr>
          <a:xfrm>
            <a:off x="1463040" y="2880360"/>
            <a:ext cx="9966960" cy="411480"/>
          </a:xfrm>
          <a:prstGeom prst="rect">
            <a:avLst/>
          </a:prstGeom>
          <a:noFill/>
        </p:spPr>
        <p:txBody>
          <a:bodyPr wrap="square" anchor="t" lIns="45720" rIns="45720">
            <a:spAutoFit/>
          </a:bodyPr>
          <a:lstStyle/>
          <a:p>
            <a:pPr algn="l">
              <a:spcAft>
                <a:spcPts val="600"/>
              </a:spcAft>
            </a:pPr>
            <a:r>
              <a:rPr sz="2000" b="1" i="0">
                <a:solidFill>
                  <a:srgbClr val="FFFFFF"/>
                </a:solidFill>
                <a:latin typeface="Cambria"/>
              </a:rPr>
              <a:t>Phòng thủ nhiều lớp</a:t>
            </a:r>
          </a:p>
        </p:txBody>
      </p:sp>
      <p:sp>
        <p:nvSpPr>
          <p:cNvPr id="8" name="TextBox 7"/>
          <p:cNvSpPr txBox="1"/>
          <p:nvPr/>
        </p:nvSpPr>
        <p:spPr>
          <a:xfrm>
            <a:off x="1463040" y="3310128"/>
            <a:ext cx="9966960" cy="548640"/>
          </a:xfrm>
          <a:prstGeom prst="rect">
            <a:avLst/>
          </a:prstGeom>
          <a:noFill/>
        </p:spPr>
        <p:txBody>
          <a:bodyPr wrap="square" anchor="t" lIns="45720" rIns="45720">
            <a:spAutoFit/>
          </a:bodyPr>
          <a:lstStyle/>
          <a:p>
            <a:pPr algn="l">
              <a:spcAft>
                <a:spcPts val="600"/>
              </a:spcAft>
            </a:pPr>
            <a:r>
              <a:rPr sz="1600" b="0" i="0">
                <a:solidFill>
                  <a:srgbClr val="C8D3E3"/>
                </a:solidFill>
                <a:latin typeface="Calibri"/>
              </a:rPr>
              <a:t>giả mạo đầu vào, chiếm tài khoản, sửa dữ liệu đều có lớp chặn riêng và được kiểm thử</a:t>
            </a:r>
          </a:p>
        </p:txBody>
      </p:sp>
      <p:sp>
        <p:nvSpPr>
          <p:cNvPr id="9" name="Oval 8"/>
          <p:cNvSpPr/>
          <p:nvPr/>
        </p:nvSpPr>
        <p:spPr>
          <a:xfrm>
            <a:off x="640080" y="4160520"/>
            <a:ext cx="594360" cy="594360"/>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0" name="TextBox 9"/>
          <p:cNvSpPr txBox="1"/>
          <p:nvPr/>
        </p:nvSpPr>
        <p:spPr>
          <a:xfrm>
            <a:off x="1463040" y="4114800"/>
            <a:ext cx="9966960" cy="411480"/>
          </a:xfrm>
          <a:prstGeom prst="rect">
            <a:avLst/>
          </a:prstGeom>
          <a:noFill/>
        </p:spPr>
        <p:txBody>
          <a:bodyPr wrap="square" anchor="t" lIns="45720" rIns="45720">
            <a:spAutoFit/>
          </a:bodyPr>
          <a:lstStyle/>
          <a:p>
            <a:pPr algn="l">
              <a:spcAft>
                <a:spcPts val="600"/>
              </a:spcAft>
            </a:pPr>
            <a:r>
              <a:rPr sz="2000" b="1" i="0">
                <a:solidFill>
                  <a:srgbClr val="FFFFFF"/>
                </a:solidFill>
                <a:latin typeface="Cambria"/>
              </a:rPr>
              <a:t>Thực tế, triển khai được</a:t>
            </a:r>
          </a:p>
        </p:txBody>
      </p:sp>
      <p:sp>
        <p:nvSpPr>
          <p:cNvPr id="11" name="TextBox 10"/>
          <p:cNvSpPr txBox="1"/>
          <p:nvPr/>
        </p:nvSpPr>
        <p:spPr>
          <a:xfrm>
            <a:off x="1463040" y="4544568"/>
            <a:ext cx="9966960" cy="548640"/>
          </a:xfrm>
          <a:prstGeom prst="rect">
            <a:avLst/>
          </a:prstGeom>
          <a:noFill/>
        </p:spPr>
        <p:txBody>
          <a:bodyPr wrap="square" anchor="t" lIns="45720" rIns="45720">
            <a:spAutoFit/>
          </a:bodyPr>
          <a:lstStyle/>
          <a:p>
            <a:pPr algn="l">
              <a:spcAft>
                <a:spcPts val="600"/>
              </a:spcAft>
            </a:pPr>
            <a:r>
              <a:rPr sz="1600" b="0" i="0">
                <a:solidFill>
                  <a:srgbClr val="C8D3E3"/>
                </a:solidFill>
                <a:latin typeface="Calibri"/>
              </a:rPr>
              <a:t>lệnh thường ngày vẫn nhanh; chi phí thấp; lộ trình 2 giai đoạn</a:t>
            </a:r>
          </a:p>
        </p:txBody>
      </p:sp>
      <p:sp>
        <p:nvSpPr>
          <p:cNvPr id="12" name="TextBox 11"/>
          <p:cNvSpPr txBox="1"/>
          <p:nvPr/>
        </p:nvSpPr>
        <p:spPr>
          <a:xfrm>
            <a:off x="548640" y="5486400"/>
            <a:ext cx="11064240" cy="640080"/>
          </a:xfrm>
          <a:prstGeom prst="rect">
            <a:avLst/>
          </a:prstGeom>
          <a:noFill/>
        </p:spPr>
        <p:txBody>
          <a:bodyPr wrap="square" anchor="t" lIns="45720" rIns="45720">
            <a:spAutoFit/>
          </a:bodyPr>
          <a:lstStyle/>
          <a:p>
            <a:pPr algn="l">
              <a:spcAft>
                <a:spcPts val="600"/>
              </a:spcAft>
            </a:pPr>
            <a:r>
              <a:rPr sz="2200" b="1" i="0">
                <a:solidFill>
                  <a:srgbClr val="8FE3CF"/>
                </a:solidFill>
                <a:latin typeface="Calibri"/>
              </a:rPr>
              <a:t>Cảm ơn thầy/cô và các bạn đã lắng nghe – Hỏi &amp; đáp</a:t>
            </a:r>
          </a:p>
        </p:txBody>
      </p:sp>
      <p:sp>
        <p:nvSpPr>
          <p:cNvPr id="13" name="TextBox 12"/>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i="0">
                <a:solidFill>
                  <a:srgbClr val="8A9BB5"/>
                </a:solidFill>
                <a:latin typeface="Calibri"/>
              </a:rPr>
              <a:t>SafePay Guard · Đồ án Bảo mật mạng máy tính và hệ thống</a:t>
            </a:r>
          </a:p>
        </p:txBody>
      </p:sp>
      <p:sp>
        <p:nvSpPr>
          <p:cNvPr id="14" name="TextBox 13"/>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i="0">
                <a:solidFill>
                  <a:srgbClr val="8A9BB5"/>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